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63" r:id="rId3"/>
    <p:sldId id="257" r:id="rId4"/>
    <p:sldId id="259" r:id="rId5"/>
    <p:sldId id="260" r:id="rId6"/>
    <p:sldId id="264" r:id="rId7"/>
    <p:sldId id="265" r:id="rId8"/>
    <p:sldId id="269" r:id="rId9"/>
    <p:sldId id="270" r:id="rId10"/>
    <p:sldId id="262" r:id="rId11"/>
    <p:sldId id="268"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F7468B-587C-022C-5B5D-BB8847931CFB}" v="93" dt="2026-08-17T16:03:24.0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4" Type="http://schemas.openxmlformats.org/officeDocument/2006/relationships/image" Target="../media/image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BA90476-725B-4BE4-A33B-07AEE1DA7038}" type="doc">
      <dgm:prSet loTypeId="urn:microsoft.com/office/officeart/2018/2/layout/IconLabelList" loCatId="icon" qsTypeId="urn:microsoft.com/office/officeart/2005/8/quickstyle/simple1#2" qsCatId="simple" csTypeId="urn:microsoft.com/office/officeart/2018/5/colors/Iconchunking_neutralbg_accent1_2" csCatId="accent1" phldr="1"/>
      <dgm:spPr/>
      <dgm:t>
        <a:bodyPr/>
        <a:lstStyle/>
        <a:p>
          <a:endParaRPr lang="en-US"/>
        </a:p>
      </dgm:t>
    </dgm:pt>
    <dgm:pt modelId="{ED0AD879-AE8E-47A0-886D-AE86B536B9A3}">
      <dgm:prSet/>
      <dgm:spPr/>
      <dgm:t>
        <a:bodyPr/>
        <a:lstStyle/>
        <a:p>
          <a:r>
            <a:rPr lang="en-IN"/>
            <a:t>Traditional diversification relies heavily on sectors, but sector labels do not always reflect how stocks actually move</a:t>
          </a:r>
          <a:endParaRPr lang="en-US"/>
        </a:p>
      </dgm:t>
    </dgm:pt>
    <dgm:pt modelId="{33AC915E-D6C1-4251-BEE8-8CEB3940DBA9}" type="parTrans" cxnId="{FC85F115-7D55-4C54-8D47-2DC7E0DD846C}">
      <dgm:prSet/>
      <dgm:spPr/>
      <dgm:t>
        <a:bodyPr/>
        <a:lstStyle/>
        <a:p>
          <a:endParaRPr lang="en-US"/>
        </a:p>
      </dgm:t>
    </dgm:pt>
    <dgm:pt modelId="{8F567C09-7DD0-49F4-946C-BB111D96B8F9}" type="sibTrans" cxnId="{FC85F115-7D55-4C54-8D47-2DC7E0DD846C}">
      <dgm:prSet/>
      <dgm:spPr/>
      <dgm:t>
        <a:bodyPr/>
        <a:lstStyle/>
        <a:p>
          <a:endParaRPr lang="en-US"/>
        </a:p>
      </dgm:t>
    </dgm:pt>
    <dgm:pt modelId="{EDF451A9-C3BA-4E97-88C8-989121D6BCA0}">
      <dgm:prSet/>
      <dgm:spPr/>
      <dgm:t>
        <a:bodyPr/>
        <a:lstStyle/>
        <a:p>
          <a:r>
            <a:rPr lang="en-IN"/>
            <a:t>Stocks from different sectors can exhibit similar risk, volatility, momentum, and market behaviour</a:t>
          </a:r>
          <a:endParaRPr lang="en-US"/>
        </a:p>
      </dgm:t>
    </dgm:pt>
    <dgm:pt modelId="{5D4C9DAC-D82B-4B1C-93D9-1AB02CD00685}" type="parTrans" cxnId="{384B1B73-2297-4785-A430-56351EC0F87C}">
      <dgm:prSet/>
      <dgm:spPr/>
      <dgm:t>
        <a:bodyPr/>
        <a:lstStyle/>
        <a:p>
          <a:endParaRPr lang="en-US"/>
        </a:p>
      </dgm:t>
    </dgm:pt>
    <dgm:pt modelId="{9FDB1553-CAF4-463F-ACD0-67F23698CFAB}" type="sibTrans" cxnId="{384B1B73-2297-4785-A430-56351EC0F87C}">
      <dgm:prSet/>
      <dgm:spPr/>
      <dgm:t>
        <a:bodyPr/>
        <a:lstStyle/>
        <a:p>
          <a:endParaRPr lang="en-US"/>
        </a:p>
      </dgm:t>
    </dgm:pt>
    <dgm:pt modelId="{551B1335-6DB3-42C5-B695-65EFF489E825}">
      <dgm:prSet/>
      <dgm:spPr/>
      <dgm:t>
        <a:bodyPr/>
        <a:lstStyle/>
        <a:p>
          <a:r>
            <a:rPr lang="en-IN"/>
            <a:t>AI can analyse these behavioural characteristics and automatically group stocks with similar historical patterns</a:t>
          </a:r>
          <a:endParaRPr lang="en-US"/>
        </a:p>
      </dgm:t>
    </dgm:pt>
    <dgm:pt modelId="{2E910691-9760-4090-B31F-0562A9F1404F}" type="parTrans" cxnId="{C98D9D64-C640-4DD0-A399-6CC1576DE6D7}">
      <dgm:prSet/>
      <dgm:spPr/>
      <dgm:t>
        <a:bodyPr/>
        <a:lstStyle/>
        <a:p>
          <a:endParaRPr lang="en-US"/>
        </a:p>
      </dgm:t>
    </dgm:pt>
    <dgm:pt modelId="{98AB828C-D82F-4137-AB70-93C56BD6222B}" type="sibTrans" cxnId="{C98D9D64-C640-4DD0-A399-6CC1576DE6D7}">
      <dgm:prSet/>
      <dgm:spPr/>
      <dgm:t>
        <a:bodyPr/>
        <a:lstStyle/>
        <a:p>
          <a:endParaRPr lang="en-US"/>
        </a:p>
      </dgm:t>
    </dgm:pt>
    <dgm:pt modelId="{D2D10CE5-4BCF-4AF5-A09F-AD1016E8760E}">
      <dgm:prSet/>
      <dgm:spPr/>
      <dgm:t>
        <a:bodyPr/>
        <a:lstStyle/>
        <a:p>
          <a:r>
            <a:rPr lang="en-IN"/>
            <a:t>This project explores whether behaviour-based clustering can provide useful insights for risk analysis and portfolio diversification</a:t>
          </a:r>
          <a:endParaRPr lang="en-US"/>
        </a:p>
      </dgm:t>
    </dgm:pt>
    <dgm:pt modelId="{305EBE92-4A54-4AED-936D-85ED0937739C}" type="parTrans" cxnId="{207B2BF3-5E9F-4FF4-8BFB-7E1E432BF0D9}">
      <dgm:prSet/>
      <dgm:spPr/>
      <dgm:t>
        <a:bodyPr/>
        <a:lstStyle/>
        <a:p>
          <a:endParaRPr lang="en-US"/>
        </a:p>
      </dgm:t>
    </dgm:pt>
    <dgm:pt modelId="{80DA771B-69D7-429B-9A0F-C803B0E1A211}" type="sibTrans" cxnId="{207B2BF3-5E9F-4FF4-8BFB-7E1E432BF0D9}">
      <dgm:prSet/>
      <dgm:spPr/>
      <dgm:t>
        <a:bodyPr/>
        <a:lstStyle/>
        <a:p>
          <a:endParaRPr lang="en-US"/>
        </a:p>
      </dgm:t>
    </dgm:pt>
    <dgm:pt modelId="{D7795122-931C-421E-BDCB-9D8BED9EC290}" type="pres">
      <dgm:prSet presAssocID="{ABA90476-725B-4BE4-A33B-07AEE1DA7038}" presName="root" presStyleCnt="0">
        <dgm:presLayoutVars>
          <dgm:dir/>
          <dgm:resizeHandles val="exact"/>
        </dgm:presLayoutVars>
      </dgm:prSet>
      <dgm:spPr/>
    </dgm:pt>
    <dgm:pt modelId="{0FB94C0F-0F78-4C01-B76E-86E4A2A130AB}" type="pres">
      <dgm:prSet presAssocID="{ED0AD879-AE8E-47A0-886D-AE86B536B9A3}" presName="compNode" presStyleCnt="0"/>
      <dgm:spPr/>
    </dgm:pt>
    <dgm:pt modelId="{59ADDA5B-F156-4136-ACDC-7D95AE4E3106}" type="pres">
      <dgm:prSet presAssocID="{ED0AD879-AE8E-47A0-886D-AE86B536B9A3}"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ar Graph with Upward Trend"/>
        </a:ext>
      </dgm:extLst>
    </dgm:pt>
    <dgm:pt modelId="{7E4F0D4F-ABC2-442E-9E09-2BB287442AC7}" type="pres">
      <dgm:prSet presAssocID="{ED0AD879-AE8E-47A0-886D-AE86B536B9A3}" presName="spaceRect" presStyleCnt="0"/>
      <dgm:spPr/>
    </dgm:pt>
    <dgm:pt modelId="{1F0CCCA4-FDA3-4374-87AF-DF0EFA5385A1}" type="pres">
      <dgm:prSet presAssocID="{ED0AD879-AE8E-47A0-886D-AE86B536B9A3}" presName="textRect" presStyleLbl="revTx" presStyleIdx="0" presStyleCnt="4">
        <dgm:presLayoutVars>
          <dgm:chMax val="1"/>
          <dgm:chPref val="1"/>
        </dgm:presLayoutVars>
      </dgm:prSet>
      <dgm:spPr/>
    </dgm:pt>
    <dgm:pt modelId="{9CC90D3F-3219-419F-9C6B-37DF5C07C039}" type="pres">
      <dgm:prSet presAssocID="{8F567C09-7DD0-49F4-946C-BB111D96B8F9}" presName="sibTrans" presStyleCnt="0"/>
      <dgm:spPr/>
    </dgm:pt>
    <dgm:pt modelId="{6C174B00-41B6-4E58-B210-73B408F54C43}" type="pres">
      <dgm:prSet presAssocID="{EDF451A9-C3BA-4E97-88C8-989121D6BCA0}" presName="compNode" presStyleCnt="0"/>
      <dgm:spPr/>
    </dgm:pt>
    <dgm:pt modelId="{EBFF7885-EA9A-4390-8899-A466B6F49FF2}" type="pres">
      <dgm:prSet presAssocID="{EDF451A9-C3BA-4E97-88C8-989121D6BCA0}"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wnward trend"/>
        </a:ext>
      </dgm:extLst>
    </dgm:pt>
    <dgm:pt modelId="{AC4447F7-3036-4DA3-A3D0-A10DF6356942}" type="pres">
      <dgm:prSet presAssocID="{EDF451A9-C3BA-4E97-88C8-989121D6BCA0}" presName="spaceRect" presStyleCnt="0"/>
      <dgm:spPr/>
    </dgm:pt>
    <dgm:pt modelId="{E40D7882-5571-4B00-AAD9-AAA7A811879D}" type="pres">
      <dgm:prSet presAssocID="{EDF451A9-C3BA-4E97-88C8-989121D6BCA0}" presName="textRect" presStyleLbl="revTx" presStyleIdx="1" presStyleCnt="4">
        <dgm:presLayoutVars>
          <dgm:chMax val="1"/>
          <dgm:chPref val="1"/>
        </dgm:presLayoutVars>
      </dgm:prSet>
      <dgm:spPr/>
    </dgm:pt>
    <dgm:pt modelId="{6A469B4B-0062-431B-AB97-AEF011844060}" type="pres">
      <dgm:prSet presAssocID="{9FDB1553-CAF4-463F-ACD0-67F23698CFAB}" presName="sibTrans" presStyleCnt="0"/>
      <dgm:spPr/>
    </dgm:pt>
    <dgm:pt modelId="{10CC1FA4-837A-4D32-8003-4E118FB43DE0}" type="pres">
      <dgm:prSet presAssocID="{551B1335-6DB3-42C5-B695-65EFF489E825}" presName="compNode" presStyleCnt="0"/>
      <dgm:spPr/>
    </dgm:pt>
    <dgm:pt modelId="{9F3F8F71-78CB-4720-83B5-89C17783D791}" type="pres">
      <dgm:prSet presAssocID="{551B1335-6DB3-42C5-B695-65EFF489E825}"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Head with Gears"/>
        </a:ext>
      </dgm:extLst>
    </dgm:pt>
    <dgm:pt modelId="{AB1C886F-8E3C-47A4-8C87-E963CB0ADD2E}" type="pres">
      <dgm:prSet presAssocID="{551B1335-6DB3-42C5-B695-65EFF489E825}" presName="spaceRect" presStyleCnt="0"/>
      <dgm:spPr/>
    </dgm:pt>
    <dgm:pt modelId="{F0FEE951-B907-4C41-8480-FA7C815C2F8C}" type="pres">
      <dgm:prSet presAssocID="{551B1335-6DB3-42C5-B695-65EFF489E825}" presName="textRect" presStyleLbl="revTx" presStyleIdx="2" presStyleCnt="4">
        <dgm:presLayoutVars>
          <dgm:chMax val="1"/>
          <dgm:chPref val="1"/>
        </dgm:presLayoutVars>
      </dgm:prSet>
      <dgm:spPr/>
    </dgm:pt>
    <dgm:pt modelId="{F2C08B74-8930-4DDC-AB50-6F563EADAD3E}" type="pres">
      <dgm:prSet presAssocID="{98AB828C-D82F-4137-AB70-93C56BD6222B}" presName="sibTrans" presStyleCnt="0"/>
      <dgm:spPr/>
    </dgm:pt>
    <dgm:pt modelId="{6396C5AF-3340-421F-A834-8BE835DAA5BD}" type="pres">
      <dgm:prSet presAssocID="{D2D10CE5-4BCF-4AF5-A09F-AD1016E8760E}" presName="compNode" presStyleCnt="0"/>
      <dgm:spPr/>
    </dgm:pt>
    <dgm:pt modelId="{3B2996CF-C9EF-4FC8-96C0-87BA086F3F2A}" type="pres">
      <dgm:prSet presAssocID="{D2D10CE5-4BCF-4AF5-A09F-AD1016E8760E}"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gnifying glass"/>
        </a:ext>
      </dgm:extLst>
    </dgm:pt>
    <dgm:pt modelId="{56FA67AD-1607-48A8-9A6C-E0242216C9B9}" type="pres">
      <dgm:prSet presAssocID="{D2D10CE5-4BCF-4AF5-A09F-AD1016E8760E}" presName="spaceRect" presStyleCnt="0"/>
      <dgm:spPr/>
    </dgm:pt>
    <dgm:pt modelId="{B5A9E507-8E9D-417A-A7AD-F8C8578B4F04}" type="pres">
      <dgm:prSet presAssocID="{D2D10CE5-4BCF-4AF5-A09F-AD1016E8760E}" presName="textRect" presStyleLbl="revTx" presStyleIdx="3" presStyleCnt="4">
        <dgm:presLayoutVars>
          <dgm:chMax val="1"/>
          <dgm:chPref val="1"/>
        </dgm:presLayoutVars>
      </dgm:prSet>
      <dgm:spPr/>
    </dgm:pt>
  </dgm:ptLst>
  <dgm:cxnLst>
    <dgm:cxn modelId="{FC85F115-7D55-4C54-8D47-2DC7E0DD846C}" srcId="{ABA90476-725B-4BE4-A33B-07AEE1DA7038}" destId="{ED0AD879-AE8E-47A0-886D-AE86B536B9A3}" srcOrd="0" destOrd="0" parTransId="{33AC915E-D6C1-4251-BEE8-8CEB3940DBA9}" sibTransId="{8F567C09-7DD0-49F4-946C-BB111D96B8F9}"/>
    <dgm:cxn modelId="{9441825F-8BF7-4B90-ACFE-1472B04C7B30}" type="presOf" srcId="{EDF451A9-C3BA-4E97-88C8-989121D6BCA0}" destId="{E40D7882-5571-4B00-AAD9-AAA7A811879D}" srcOrd="0" destOrd="0" presId="urn:microsoft.com/office/officeart/2018/2/layout/IconLabelList"/>
    <dgm:cxn modelId="{C98D9D64-C640-4DD0-A399-6CC1576DE6D7}" srcId="{ABA90476-725B-4BE4-A33B-07AEE1DA7038}" destId="{551B1335-6DB3-42C5-B695-65EFF489E825}" srcOrd="2" destOrd="0" parTransId="{2E910691-9760-4090-B31F-0562A9F1404F}" sibTransId="{98AB828C-D82F-4137-AB70-93C56BD6222B}"/>
    <dgm:cxn modelId="{D70C3768-1C2D-4EF2-942E-BB28B3A39CB2}" type="presOf" srcId="{D2D10CE5-4BCF-4AF5-A09F-AD1016E8760E}" destId="{B5A9E507-8E9D-417A-A7AD-F8C8578B4F04}" srcOrd="0" destOrd="0" presId="urn:microsoft.com/office/officeart/2018/2/layout/IconLabelList"/>
    <dgm:cxn modelId="{384B1B73-2297-4785-A430-56351EC0F87C}" srcId="{ABA90476-725B-4BE4-A33B-07AEE1DA7038}" destId="{EDF451A9-C3BA-4E97-88C8-989121D6BCA0}" srcOrd="1" destOrd="0" parTransId="{5D4C9DAC-D82B-4B1C-93D9-1AB02CD00685}" sibTransId="{9FDB1553-CAF4-463F-ACD0-67F23698CFAB}"/>
    <dgm:cxn modelId="{06279DC2-1DC3-4714-9A07-E07CBB6D1046}" type="presOf" srcId="{ED0AD879-AE8E-47A0-886D-AE86B536B9A3}" destId="{1F0CCCA4-FDA3-4374-87AF-DF0EFA5385A1}" srcOrd="0" destOrd="0" presId="urn:microsoft.com/office/officeart/2018/2/layout/IconLabelList"/>
    <dgm:cxn modelId="{313377EA-DBE6-4B1A-9A41-2449021F0035}" type="presOf" srcId="{ABA90476-725B-4BE4-A33B-07AEE1DA7038}" destId="{D7795122-931C-421E-BDCB-9D8BED9EC290}" srcOrd="0" destOrd="0" presId="urn:microsoft.com/office/officeart/2018/2/layout/IconLabelList"/>
    <dgm:cxn modelId="{C6C3A9F1-F2AD-49CC-BF2B-2454D8AFE28E}" type="presOf" srcId="{551B1335-6DB3-42C5-B695-65EFF489E825}" destId="{F0FEE951-B907-4C41-8480-FA7C815C2F8C}" srcOrd="0" destOrd="0" presId="urn:microsoft.com/office/officeart/2018/2/layout/IconLabelList"/>
    <dgm:cxn modelId="{207B2BF3-5E9F-4FF4-8BFB-7E1E432BF0D9}" srcId="{ABA90476-725B-4BE4-A33B-07AEE1DA7038}" destId="{D2D10CE5-4BCF-4AF5-A09F-AD1016E8760E}" srcOrd="3" destOrd="0" parTransId="{305EBE92-4A54-4AED-936D-85ED0937739C}" sibTransId="{80DA771B-69D7-429B-9A0F-C803B0E1A211}"/>
    <dgm:cxn modelId="{EF39D604-BE20-4169-810B-E5056E058373}" type="presParOf" srcId="{D7795122-931C-421E-BDCB-9D8BED9EC290}" destId="{0FB94C0F-0F78-4C01-B76E-86E4A2A130AB}" srcOrd="0" destOrd="0" presId="urn:microsoft.com/office/officeart/2018/2/layout/IconLabelList"/>
    <dgm:cxn modelId="{99EDEBCB-0FE5-4344-92D8-37E997640013}" type="presParOf" srcId="{0FB94C0F-0F78-4C01-B76E-86E4A2A130AB}" destId="{59ADDA5B-F156-4136-ACDC-7D95AE4E3106}" srcOrd="0" destOrd="0" presId="urn:microsoft.com/office/officeart/2018/2/layout/IconLabelList"/>
    <dgm:cxn modelId="{623C3D61-BAE0-4B17-A44F-528CDFFC03C3}" type="presParOf" srcId="{0FB94C0F-0F78-4C01-B76E-86E4A2A130AB}" destId="{7E4F0D4F-ABC2-442E-9E09-2BB287442AC7}" srcOrd="1" destOrd="0" presId="urn:microsoft.com/office/officeart/2018/2/layout/IconLabelList"/>
    <dgm:cxn modelId="{B4DDBB34-B420-430E-8A0A-34AEC6B46E83}" type="presParOf" srcId="{0FB94C0F-0F78-4C01-B76E-86E4A2A130AB}" destId="{1F0CCCA4-FDA3-4374-87AF-DF0EFA5385A1}" srcOrd="2" destOrd="0" presId="urn:microsoft.com/office/officeart/2018/2/layout/IconLabelList"/>
    <dgm:cxn modelId="{EFC40EDA-17D2-4070-A747-E2B4A4EDDA9C}" type="presParOf" srcId="{D7795122-931C-421E-BDCB-9D8BED9EC290}" destId="{9CC90D3F-3219-419F-9C6B-37DF5C07C039}" srcOrd="1" destOrd="0" presId="urn:microsoft.com/office/officeart/2018/2/layout/IconLabelList"/>
    <dgm:cxn modelId="{F2A7F104-C83E-491E-9651-03236C091A21}" type="presParOf" srcId="{D7795122-931C-421E-BDCB-9D8BED9EC290}" destId="{6C174B00-41B6-4E58-B210-73B408F54C43}" srcOrd="2" destOrd="0" presId="urn:microsoft.com/office/officeart/2018/2/layout/IconLabelList"/>
    <dgm:cxn modelId="{F6B4F588-0636-40C7-98C4-FF78EB6C9CC6}" type="presParOf" srcId="{6C174B00-41B6-4E58-B210-73B408F54C43}" destId="{EBFF7885-EA9A-4390-8899-A466B6F49FF2}" srcOrd="0" destOrd="0" presId="urn:microsoft.com/office/officeart/2018/2/layout/IconLabelList"/>
    <dgm:cxn modelId="{4C4F0E14-7E1F-471D-B43E-A551ACD8B47D}" type="presParOf" srcId="{6C174B00-41B6-4E58-B210-73B408F54C43}" destId="{AC4447F7-3036-4DA3-A3D0-A10DF6356942}" srcOrd="1" destOrd="0" presId="urn:microsoft.com/office/officeart/2018/2/layout/IconLabelList"/>
    <dgm:cxn modelId="{02DADC05-1107-480A-9CB9-6D141C05EE03}" type="presParOf" srcId="{6C174B00-41B6-4E58-B210-73B408F54C43}" destId="{E40D7882-5571-4B00-AAD9-AAA7A811879D}" srcOrd="2" destOrd="0" presId="urn:microsoft.com/office/officeart/2018/2/layout/IconLabelList"/>
    <dgm:cxn modelId="{F66322BF-9237-4AEC-99E5-BADFD057680E}" type="presParOf" srcId="{D7795122-931C-421E-BDCB-9D8BED9EC290}" destId="{6A469B4B-0062-431B-AB97-AEF011844060}" srcOrd="3" destOrd="0" presId="urn:microsoft.com/office/officeart/2018/2/layout/IconLabelList"/>
    <dgm:cxn modelId="{A6D1623A-2A86-4372-AFC5-4405DE65AF99}" type="presParOf" srcId="{D7795122-931C-421E-BDCB-9D8BED9EC290}" destId="{10CC1FA4-837A-4D32-8003-4E118FB43DE0}" srcOrd="4" destOrd="0" presId="urn:microsoft.com/office/officeart/2018/2/layout/IconLabelList"/>
    <dgm:cxn modelId="{AAF4B9D8-4E08-483A-82E8-AF3EAA0D3ED9}" type="presParOf" srcId="{10CC1FA4-837A-4D32-8003-4E118FB43DE0}" destId="{9F3F8F71-78CB-4720-83B5-89C17783D791}" srcOrd="0" destOrd="0" presId="urn:microsoft.com/office/officeart/2018/2/layout/IconLabelList"/>
    <dgm:cxn modelId="{520E3CC7-BB5B-4B23-AFEF-4F7F0B6D217F}" type="presParOf" srcId="{10CC1FA4-837A-4D32-8003-4E118FB43DE0}" destId="{AB1C886F-8E3C-47A4-8C87-E963CB0ADD2E}" srcOrd="1" destOrd="0" presId="urn:microsoft.com/office/officeart/2018/2/layout/IconLabelList"/>
    <dgm:cxn modelId="{42A1A32B-BEA9-4A52-AD3D-D298D5745831}" type="presParOf" srcId="{10CC1FA4-837A-4D32-8003-4E118FB43DE0}" destId="{F0FEE951-B907-4C41-8480-FA7C815C2F8C}" srcOrd="2" destOrd="0" presId="urn:microsoft.com/office/officeart/2018/2/layout/IconLabelList"/>
    <dgm:cxn modelId="{3C15C8D0-5BFD-4D8F-9851-D6C71AD10EE6}" type="presParOf" srcId="{D7795122-931C-421E-BDCB-9D8BED9EC290}" destId="{F2C08B74-8930-4DDC-AB50-6F563EADAD3E}" srcOrd="5" destOrd="0" presId="urn:microsoft.com/office/officeart/2018/2/layout/IconLabelList"/>
    <dgm:cxn modelId="{18AF6033-D8FF-4671-9FC5-D3D95BF3A93C}" type="presParOf" srcId="{D7795122-931C-421E-BDCB-9D8BED9EC290}" destId="{6396C5AF-3340-421F-A834-8BE835DAA5BD}" srcOrd="6" destOrd="0" presId="urn:microsoft.com/office/officeart/2018/2/layout/IconLabelList"/>
    <dgm:cxn modelId="{68CCBC7F-A548-4BE7-A17A-3E1FAE67F4F4}" type="presParOf" srcId="{6396C5AF-3340-421F-A834-8BE835DAA5BD}" destId="{3B2996CF-C9EF-4FC8-96C0-87BA086F3F2A}" srcOrd="0" destOrd="0" presId="urn:microsoft.com/office/officeart/2018/2/layout/IconLabelList"/>
    <dgm:cxn modelId="{94956F44-A139-4F35-A9E5-01B224C29FD2}" type="presParOf" srcId="{6396C5AF-3340-421F-A834-8BE835DAA5BD}" destId="{56FA67AD-1607-48A8-9A6C-E0242216C9B9}" srcOrd="1" destOrd="0" presId="urn:microsoft.com/office/officeart/2018/2/layout/IconLabelList"/>
    <dgm:cxn modelId="{41673BAA-20BB-43D5-9BC2-70D8A450532A}" type="presParOf" srcId="{6396C5AF-3340-421F-A834-8BE835DAA5BD}" destId="{B5A9E507-8E9D-417A-A7AD-F8C8578B4F04}"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CE8B530-443F-407D-BCDE-F4E320ED6000}" type="doc">
      <dgm:prSet loTypeId="urn:microsoft.com/office/officeart/2005/8/layout/vList2" loCatId="list" qsTypeId="urn:microsoft.com/office/officeart/2005/8/quickstyle/simple4#1" qsCatId="simple" csTypeId="urn:microsoft.com/office/officeart/2005/8/colors/colorful2#2" csCatId="colorful"/>
      <dgm:spPr/>
      <dgm:t>
        <a:bodyPr/>
        <a:lstStyle/>
        <a:p>
          <a:endParaRPr lang="en-US"/>
        </a:p>
      </dgm:t>
    </dgm:pt>
    <dgm:pt modelId="{25C031C2-D9DD-4723-A345-ACBF6A824050}">
      <dgm:prSet/>
      <dgm:spPr/>
      <dgm:t>
        <a:bodyPr/>
        <a:lstStyle/>
        <a:p>
          <a:r>
            <a:rPr lang="en-IN"/>
            <a:t>To develop behavioural fingerprints for NSE-listed stocks using historical market data </a:t>
          </a:r>
          <a:endParaRPr lang="en-US"/>
        </a:p>
      </dgm:t>
    </dgm:pt>
    <dgm:pt modelId="{7B786791-CCB8-4BB3-B9CE-1EA1AA7E1F7F}" type="parTrans" cxnId="{52B7C61A-5FA1-4CED-8A97-7FEDFCD10F01}">
      <dgm:prSet/>
      <dgm:spPr/>
      <dgm:t>
        <a:bodyPr/>
        <a:lstStyle/>
        <a:p>
          <a:endParaRPr lang="en-US"/>
        </a:p>
      </dgm:t>
    </dgm:pt>
    <dgm:pt modelId="{4FCA7AA8-B470-47CA-8664-80D532875D5B}" type="sibTrans" cxnId="{52B7C61A-5FA1-4CED-8A97-7FEDFCD10F01}">
      <dgm:prSet/>
      <dgm:spPr/>
      <dgm:t>
        <a:bodyPr/>
        <a:lstStyle/>
        <a:p>
          <a:endParaRPr lang="en-US"/>
        </a:p>
      </dgm:t>
    </dgm:pt>
    <dgm:pt modelId="{4B13ABB7-B3BB-46A9-81B0-16406E347A8E}">
      <dgm:prSet/>
      <dgm:spPr/>
      <dgm:t>
        <a:bodyPr/>
        <a:lstStyle/>
        <a:p>
          <a:r>
            <a:rPr lang="en-IN"/>
            <a:t>To apply unsupervised machine learning to identify stocks with similar behavioural patterns </a:t>
          </a:r>
          <a:endParaRPr lang="en-US"/>
        </a:p>
      </dgm:t>
    </dgm:pt>
    <dgm:pt modelId="{68FB416C-E4A1-42EF-B75C-A1DD85555F49}" type="parTrans" cxnId="{08DF6C63-0F5D-4C6D-854D-198869ADABF5}">
      <dgm:prSet/>
      <dgm:spPr/>
      <dgm:t>
        <a:bodyPr/>
        <a:lstStyle/>
        <a:p>
          <a:endParaRPr lang="en-US"/>
        </a:p>
      </dgm:t>
    </dgm:pt>
    <dgm:pt modelId="{F978031A-9870-4468-9577-6596B0392CF2}" type="sibTrans" cxnId="{08DF6C63-0F5D-4C6D-854D-198869ADABF5}">
      <dgm:prSet/>
      <dgm:spPr/>
      <dgm:t>
        <a:bodyPr/>
        <a:lstStyle/>
        <a:p>
          <a:endParaRPr lang="en-US"/>
        </a:p>
      </dgm:t>
    </dgm:pt>
    <dgm:pt modelId="{906B392C-5503-4B70-AADE-E954A69595E9}">
      <dgm:prSet/>
      <dgm:spPr/>
      <dgm:t>
        <a:bodyPr/>
        <a:lstStyle/>
        <a:p>
          <a:r>
            <a:rPr lang="en-IN"/>
            <a:t>To analyse the risk, return, and correlation characteristics of the identified behavioural clusters </a:t>
          </a:r>
          <a:endParaRPr lang="en-US"/>
        </a:p>
      </dgm:t>
    </dgm:pt>
    <dgm:pt modelId="{5CA40D5A-F2FC-40D4-872D-711376CF618B}" type="parTrans" cxnId="{F47E0B95-ECFD-4318-8675-5472FAC5A212}">
      <dgm:prSet/>
      <dgm:spPr/>
      <dgm:t>
        <a:bodyPr/>
        <a:lstStyle/>
        <a:p>
          <a:endParaRPr lang="en-US"/>
        </a:p>
      </dgm:t>
    </dgm:pt>
    <dgm:pt modelId="{E11715D5-EF8D-4EBA-B1D8-01D681221420}" type="sibTrans" cxnId="{F47E0B95-ECFD-4318-8675-5472FAC5A212}">
      <dgm:prSet/>
      <dgm:spPr/>
      <dgm:t>
        <a:bodyPr/>
        <a:lstStyle/>
        <a:p>
          <a:endParaRPr lang="en-US"/>
        </a:p>
      </dgm:t>
    </dgm:pt>
    <dgm:pt modelId="{961C474F-E23B-4730-BA6B-89F1B2F64B8A}">
      <dgm:prSet/>
      <dgm:spPr/>
      <dgm:t>
        <a:bodyPr/>
        <a:lstStyle/>
        <a:p>
          <a:r>
            <a:rPr lang="en-IN"/>
            <a:t>To evaluate whether behaviour-based stock selection can provide meaningful diversification compared with sector-based selection</a:t>
          </a:r>
          <a:endParaRPr lang="en-US"/>
        </a:p>
      </dgm:t>
    </dgm:pt>
    <dgm:pt modelId="{67A338B2-706A-4B96-A986-EC2EF3947D57}" type="parTrans" cxnId="{5C348726-65B2-44CB-A907-EE81440DA094}">
      <dgm:prSet/>
      <dgm:spPr/>
      <dgm:t>
        <a:bodyPr/>
        <a:lstStyle/>
        <a:p>
          <a:endParaRPr lang="en-US"/>
        </a:p>
      </dgm:t>
    </dgm:pt>
    <dgm:pt modelId="{F2C0ED50-C1C8-4899-A4D6-38804C463892}" type="sibTrans" cxnId="{5C348726-65B2-44CB-A907-EE81440DA094}">
      <dgm:prSet/>
      <dgm:spPr/>
      <dgm:t>
        <a:bodyPr/>
        <a:lstStyle/>
        <a:p>
          <a:endParaRPr lang="en-US"/>
        </a:p>
      </dgm:t>
    </dgm:pt>
    <dgm:pt modelId="{791E6580-9446-4434-86AA-47C2061BF25F}" type="pres">
      <dgm:prSet presAssocID="{0CE8B530-443F-407D-BCDE-F4E320ED6000}" presName="linear" presStyleCnt="0">
        <dgm:presLayoutVars>
          <dgm:animLvl val="lvl"/>
          <dgm:resizeHandles val="exact"/>
        </dgm:presLayoutVars>
      </dgm:prSet>
      <dgm:spPr/>
    </dgm:pt>
    <dgm:pt modelId="{72FC215B-B052-42B5-9192-4A5780405BF1}" type="pres">
      <dgm:prSet presAssocID="{25C031C2-D9DD-4723-A345-ACBF6A824050}" presName="parentText" presStyleLbl="node1" presStyleIdx="0" presStyleCnt="4">
        <dgm:presLayoutVars>
          <dgm:chMax val="0"/>
          <dgm:bulletEnabled val="1"/>
        </dgm:presLayoutVars>
      </dgm:prSet>
      <dgm:spPr/>
    </dgm:pt>
    <dgm:pt modelId="{1894FDC8-25DB-4399-8FAD-F63B1BCD4E35}" type="pres">
      <dgm:prSet presAssocID="{4FCA7AA8-B470-47CA-8664-80D532875D5B}" presName="spacer" presStyleCnt="0"/>
      <dgm:spPr/>
    </dgm:pt>
    <dgm:pt modelId="{1D81B38C-B04D-495A-A236-2EC907E8C4BC}" type="pres">
      <dgm:prSet presAssocID="{4B13ABB7-B3BB-46A9-81B0-16406E347A8E}" presName="parentText" presStyleLbl="node1" presStyleIdx="1" presStyleCnt="4">
        <dgm:presLayoutVars>
          <dgm:chMax val="0"/>
          <dgm:bulletEnabled val="1"/>
        </dgm:presLayoutVars>
      </dgm:prSet>
      <dgm:spPr/>
    </dgm:pt>
    <dgm:pt modelId="{66729A9C-FDE8-4507-B606-8943F4C54BAA}" type="pres">
      <dgm:prSet presAssocID="{F978031A-9870-4468-9577-6596B0392CF2}" presName="spacer" presStyleCnt="0"/>
      <dgm:spPr/>
    </dgm:pt>
    <dgm:pt modelId="{7E06038E-2928-48A3-808F-62F9CDA93A8D}" type="pres">
      <dgm:prSet presAssocID="{906B392C-5503-4B70-AADE-E954A69595E9}" presName="parentText" presStyleLbl="node1" presStyleIdx="2" presStyleCnt="4">
        <dgm:presLayoutVars>
          <dgm:chMax val="0"/>
          <dgm:bulletEnabled val="1"/>
        </dgm:presLayoutVars>
      </dgm:prSet>
      <dgm:spPr/>
    </dgm:pt>
    <dgm:pt modelId="{1F33FDDA-3046-4647-A6D9-39322C87C76A}" type="pres">
      <dgm:prSet presAssocID="{E11715D5-EF8D-4EBA-B1D8-01D681221420}" presName="spacer" presStyleCnt="0"/>
      <dgm:spPr/>
    </dgm:pt>
    <dgm:pt modelId="{7A62A632-5F3D-4EAF-8B38-8DF29B10840A}" type="pres">
      <dgm:prSet presAssocID="{961C474F-E23B-4730-BA6B-89F1B2F64B8A}" presName="parentText" presStyleLbl="node1" presStyleIdx="3" presStyleCnt="4">
        <dgm:presLayoutVars>
          <dgm:chMax val="0"/>
          <dgm:bulletEnabled val="1"/>
        </dgm:presLayoutVars>
      </dgm:prSet>
      <dgm:spPr/>
    </dgm:pt>
  </dgm:ptLst>
  <dgm:cxnLst>
    <dgm:cxn modelId="{84403D04-2AFE-47F3-8270-0A1B1691D96D}" type="presOf" srcId="{25C031C2-D9DD-4723-A345-ACBF6A824050}" destId="{72FC215B-B052-42B5-9192-4A5780405BF1}" srcOrd="0" destOrd="0" presId="urn:microsoft.com/office/officeart/2005/8/layout/vList2"/>
    <dgm:cxn modelId="{52B7C61A-5FA1-4CED-8A97-7FEDFCD10F01}" srcId="{0CE8B530-443F-407D-BCDE-F4E320ED6000}" destId="{25C031C2-D9DD-4723-A345-ACBF6A824050}" srcOrd="0" destOrd="0" parTransId="{7B786791-CCB8-4BB3-B9CE-1EA1AA7E1F7F}" sibTransId="{4FCA7AA8-B470-47CA-8664-80D532875D5B}"/>
    <dgm:cxn modelId="{5C348726-65B2-44CB-A907-EE81440DA094}" srcId="{0CE8B530-443F-407D-BCDE-F4E320ED6000}" destId="{961C474F-E23B-4730-BA6B-89F1B2F64B8A}" srcOrd="3" destOrd="0" parTransId="{67A338B2-706A-4B96-A986-EC2EF3947D57}" sibTransId="{F2C0ED50-C1C8-4899-A4D6-38804C463892}"/>
    <dgm:cxn modelId="{A7DF6432-F823-4EA6-8591-46F94E915586}" type="presOf" srcId="{4B13ABB7-B3BB-46A9-81B0-16406E347A8E}" destId="{1D81B38C-B04D-495A-A236-2EC907E8C4BC}" srcOrd="0" destOrd="0" presId="urn:microsoft.com/office/officeart/2005/8/layout/vList2"/>
    <dgm:cxn modelId="{08DF6C63-0F5D-4C6D-854D-198869ADABF5}" srcId="{0CE8B530-443F-407D-BCDE-F4E320ED6000}" destId="{4B13ABB7-B3BB-46A9-81B0-16406E347A8E}" srcOrd="1" destOrd="0" parTransId="{68FB416C-E4A1-42EF-B75C-A1DD85555F49}" sibTransId="{F978031A-9870-4468-9577-6596B0392CF2}"/>
    <dgm:cxn modelId="{DA5E7A48-9366-47C2-A45F-20BE1F073D91}" type="presOf" srcId="{906B392C-5503-4B70-AADE-E954A69595E9}" destId="{7E06038E-2928-48A3-808F-62F9CDA93A8D}" srcOrd="0" destOrd="0" presId="urn:microsoft.com/office/officeart/2005/8/layout/vList2"/>
    <dgm:cxn modelId="{F47E0B95-ECFD-4318-8675-5472FAC5A212}" srcId="{0CE8B530-443F-407D-BCDE-F4E320ED6000}" destId="{906B392C-5503-4B70-AADE-E954A69595E9}" srcOrd="2" destOrd="0" parTransId="{5CA40D5A-F2FC-40D4-872D-711376CF618B}" sibTransId="{E11715D5-EF8D-4EBA-B1D8-01D681221420}"/>
    <dgm:cxn modelId="{4E0BAE96-49DE-4B8B-85E4-82028D30ADB7}" type="presOf" srcId="{0CE8B530-443F-407D-BCDE-F4E320ED6000}" destId="{791E6580-9446-4434-86AA-47C2061BF25F}" srcOrd="0" destOrd="0" presId="urn:microsoft.com/office/officeart/2005/8/layout/vList2"/>
    <dgm:cxn modelId="{23618AFB-4BCC-46C5-8E65-336326B752EC}" type="presOf" srcId="{961C474F-E23B-4730-BA6B-89F1B2F64B8A}" destId="{7A62A632-5F3D-4EAF-8B38-8DF29B10840A}" srcOrd="0" destOrd="0" presId="urn:microsoft.com/office/officeart/2005/8/layout/vList2"/>
    <dgm:cxn modelId="{DC4A14FB-C5C6-41B3-881E-21A33C389C99}" type="presParOf" srcId="{791E6580-9446-4434-86AA-47C2061BF25F}" destId="{72FC215B-B052-42B5-9192-4A5780405BF1}" srcOrd="0" destOrd="0" presId="urn:microsoft.com/office/officeart/2005/8/layout/vList2"/>
    <dgm:cxn modelId="{5037C8F8-AD93-48D2-8E4E-483DC6722EBD}" type="presParOf" srcId="{791E6580-9446-4434-86AA-47C2061BF25F}" destId="{1894FDC8-25DB-4399-8FAD-F63B1BCD4E35}" srcOrd="1" destOrd="0" presId="urn:microsoft.com/office/officeart/2005/8/layout/vList2"/>
    <dgm:cxn modelId="{E92C18C9-16BC-4F88-B9CE-CD7CAAC3189E}" type="presParOf" srcId="{791E6580-9446-4434-86AA-47C2061BF25F}" destId="{1D81B38C-B04D-495A-A236-2EC907E8C4BC}" srcOrd="2" destOrd="0" presId="urn:microsoft.com/office/officeart/2005/8/layout/vList2"/>
    <dgm:cxn modelId="{EDA3CF5E-D9F6-45B4-9D9E-5C89D6A55B25}" type="presParOf" srcId="{791E6580-9446-4434-86AA-47C2061BF25F}" destId="{66729A9C-FDE8-4507-B606-8943F4C54BAA}" srcOrd="3" destOrd="0" presId="urn:microsoft.com/office/officeart/2005/8/layout/vList2"/>
    <dgm:cxn modelId="{1AEBFA19-C40C-43A9-84A0-045A3A522D78}" type="presParOf" srcId="{791E6580-9446-4434-86AA-47C2061BF25F}" destId="{7E06038E-2928-48A3-808F-62F9CDA93A8D}" srcOrd="4" destOrd="0" presId="urn:microsoft.com/office/officeart/2005/8/layout/vList2"/>
    <dgm:cxn modelId="{59AB950A-FB03-43B5-A6EC-283BCAD06D26}" type="presParOf" srcId="{791E6580-9446-4434-86AA-47C2061BF25F}" destId="{1F33FDDA-3046-4647-A6D9-39322C87C76A}" srcOrd="5" destOrd="0" presId="urn:microsoft.com/office/officeart/2005/8/layout/vList2"/>
    <dgm:cxn modelId="{1314EFBA-A137-4F0D-805D-A71DBDB1CEA4}" type="presParOf" srcId="{791E6580-9446-4434-86AA-47C2061BF25F}" destId="{7A62A632-5F3D-4EAF-8B38-8DF29B10840A}"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ADDA5B-F156-4136-ACDC-7D95AE4E3106}">
      <dsp:nvSpPr>
        <dsp:cNvPr id="0" name=""/>
        <dsp:cNvSpPr/>
      </dsp:nvSpPr>
      <dsp:spPr>
        <a:xfrm>
          <a:off x="752566" y="1045320"/>
          <a:ext cx="1066720" cy="10667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F0CCCA4-FDA3-4374-87AF-DF0EFA5385A1}">
      <dsp:nvSpPr>
        <dsp:cNvPr id="0" name=""/>
        <dsp:cNvSpPr/>
      </dsp:nvSpPr>
      <dsp:spPr>
        <a:xfrm>
          <a:off x="100682"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IN" sz="1200" kern="1200"/>
            <a:t>Traditional diversification relies heavily on sectors, but sector labels do not always reflect how stocks actually move</a:t>
          </a:r>
          <a:endParaRPr lang="en-US" sz="1200" kern="1200"/>
        </a:p>
      </dsp:txBody>
      <dsp:txXfrm>
        <a:off x="100682" y="2427484"/>
        <a:ext cx="2370489" cy="720000"/>
      </dsp:txXfrm>
    </dsp:sp>
    <dsp:sp modelId="{EBFF7885-EA9A-4390-8899-A466B6F49FF2}">
      <dsp:nvSpPr>
        <dsp:cNvPr id="0" name=""/>
        <dsp:cNvSpPr/>
      </dsp:nvSpPr>
      <dsp:spPr>
        <a:xfrm>
          <a:off x="3537891" y="1045320"/>
          <a:ext cx="1066720" cy="10667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40D7882-5571-4B00-AAD9-AAA7A811879D}">
      <dsp:nvSpPr>
        <dsp:cNvPr id="0" name=""/>
        <dsp:cNvSpPr/>
      </dsp:nvSpPr>
      <dsp:spPr>
        <a:xfrm>
          <a:off x="2886007"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IN" sz="1200" kern="1200"/>
            <a:t>Stocks from different sectors can exhibit similar risk, volatility, momentum, and market behaviour</a:t>
          </a:r>
          <a:endParaRPr lang="en-US" sz="1200" kern="1200"/>
        </a:p>
      </dsp:txBody>
      <dsp:txXfrm>
        <a:off x="2886007" y="2427484"/>
        <a:ext cx="2370489" cy="720000"/>
      </dsp:txXfrm>
    </dsp:sp>
    <dsp:sp modelId="{9F3F8F71-78CB-4720-83B5-89C17783D791}">
      <dsp:nvSpPr>
        <dsp:cNvPr id="0" name=""/>
        <dsp:cNvSpPr/>
      </dsp:nvSpPr>
      <dsp:spPr>
        <a:xfrm>
          <a:off x="6323216" y="1045320"/>
          <a:ext cx="1066720" cy="10667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0FEE951-B907-4C41-8480-FA7C815C2F8C}">
      <dsp:nvSpPr>
        <dsp:cNvPr id="0" name=""/>
        <dsp:cNvSpPr/>
      </dsp:nvSpPr>
      <dsp:spPr>
        <a:xfrm>
          <a:off x="5671332"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IN" sz="1200" kern="1200"/>
            <a:t>AI can analyse these behavioural characteristics and automatically group stocks with similar historical patterns</a:t>
          </a:r>
          <a:endParaRPr lang="en-US" sz="1200" kern="1200"/>
        </a:p>
      </dsp:txBody>
      <dsp:txXfrm>
        <a:off x="5671332" y="2427484"/>
        <a:ext cx="2370489" cy="720000"/>
      </dsp:txXfrm>
    </dsp:sp>
    <dsp:sp modelId="{3B2996CF-C9EF-4FC8-96C0-87BA086F3F2A}">
      <dsp:nvSpPr>
        <dsp:cNvPr id="0" name=""/>
        <dsp:cNvSpPr/>
      </dsp:nvSpPr>
      <dsp:spPr>
        <a:xfrm>
          <a:off x="9108541" y="1045320"/>
          <a:ext cx="1066720" cy="10667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5A9E507-8E9D-417A-A7AD-F8C8578B4F04}">
      <dsp:nvSpPr>
        <dsp:cNvPr id="0" name=""/>
        <dsp:cNvSpPr/>
      </dsp:nvSpPr>
      <dsp:spPr>
        <a:xfrm>
          <a:off x="8456657"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IN" sz="1200" kern="1200"/>
            <a:t>This project explores whether behaviour-based clustering can provide useful insights for risk analysis and portfolio diversification</a:t>
          </a:r>
          <a:endParaRPr lang="en-US" sz="1200" kern="1200"/>
        </a:p>
      </dsp:txBody>
      <dsp:txXfrm>
        <a:off x="8456657" y="2427484"/>
        <a:ext cx="2370489"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FC215B-B052-42B5-9192-4A5780405BF1}">
      <dsp:nvSpPr>
        <dsp:cNvPr id="0" name=""/>
        <dsp:cNvSpPr/>
      </dsp:nvSpPr>
      <dsp:spPr>
        <a:xfrm>
          <a:off x="0" y="54331"/>
          <a:ext cx="6666833" cy="1286634"/>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IN" sz="2300" kern="1200"/>
            <a:t>To develop behavioural fingerprints for NSE-listed stocks using historical market data </a:t>
          </a:r>
          <a:endParaRPr lang="en-US" sz="2300" kern="1200"/>
        </a:p>
      </dsp:txBody>
      <dsp:txXfrm>
        <a:off x="62808" y="117139"/>
        <a:ext cx="6541217" cy="1161018"/>
      </dsp:txXfrm>
    </dsp:sp>
    <dsp:sp modelId="{1D81B38C-B04D-495A-A236-2EC907E8C4BC}">
      <dsp:nvSpPr>
        <dsp:cNvPr id="0" name=""/>
        <dsp:cNvSpPr/>
      </dsp:nvSpPr>
      <dsp:spPr>
        <a:xfrm>
          <a:off x="0" y="1407205"/>
          <a:ext cx="6666833" cy="1286634"/>
        </a:xfrm>
        <a:prstGeom prst="roundRect">
          <a:avLst/>
        </a:prstGeom>
        <a:gradFill rotWithShape="0">
          <a:gsLst>
            <a:gs pos="0">
              <a:schemeClr val="accent2">
                <a:hueOff val="-485121"/>
                <a:satOff val="-27976"/>
                <a:lumOff val="2876"/>
                <a:alphaOff val="0"/>
                <a:satMod val="103000"/>
                <a:lumMod val="102000"/>
                <a:tint val="94000"/>
              </a:schemeClr>
            </a:gs>
            <a:gs pos="50000">
              <a:schemeClr val="accent2">
                <a:hueOff val="-485121"/>
                <a:satOff val="-27976"/>
                <a:lumOff val="2876"/>
                <a:alphaOff val="0"/>
                <a:satMod val="110000"/>
                <a:lumMod val="100000"/>
                <a:shade val="100000"/>
              </a:schemeClr>
            </a:gs>
            <a:gs pos="100000">
              <a:schemeClr val="accent2">
                <a:hueOff val="-485121"/>
                <a:satOff val="-27976"/>
                <a:lumOff val="287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IN" sz="2300" kern="1200"/>
            <a:t>To apply unsupervised machine learning to identify stocks with similar behavioural patterns </a:t>
          </a:r>
          <a:endParaRPr lang="en-US" sz="2300" kern="1200"/>
        </a:p>
      </dsp:txBody>
      <dsp:txXfrm>
        <a:off x="62808" y="1470013"/>
        <a:ext cx="6541217" cy="1161018"/>
      </dsp:txXfrm>
    </dsp:sp>
    <dsp:sp modelId="{7E06038E-2928-48A3-808F-62F9CDA93A8D}">
      <dsp:nvSpPr>
        <dsp:cNvPr id="0" name=""/>
        <dsp:cNvSpPr/>
      </dsp:nvSpPr>
      <dsp:spPr>
        <a:xfrm>
          <a:off x="0" y="2760080"/>
          <a:ext cx="6666833" cy="1286634"/>
        </a:xfrm>
        <a:prstGeom prst="roundRect">
          <a:avLst/>
        </a:prstGeom>
        <a:gradFill rotWithShape="0">
          <a:gsLst>
            <a:gs pos="0">
              <a:schemeClr val="accent2">
                <a:hueOff val="-970242"/>
                <a:satOff val="-55952"/>
                <a:lumOff val="5752"/>
                <a:alphaOff val="0"/>
                <a:satMod val="103000"/>
                <a:lumMod val="102000"/>
                <a:tint val="94000"/>
              </a:schemeClr>
            </a:gs>
            <a:gs pos="50000">
              <a:schemeClr val="accent2">
                <a:hueOff val="-970242"/>
                <a:satOff val="-55952"/>
                <a:lumOff val="5752"/>
                <a:alphaOff val="0"/>
                <a:satMod val="110000"/>
                <a:lumMod val="100000"/>
                <a:shade val="100000"/>
              </a:schemeClr>
            </a:gs>
            <a:gs pos="100000">
              <a:schemeClr val="accent2">
                <a:hueOff val="-970242"/>
                <a:satOff val="-55952"/>
                <a:lumOff val="575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IN" sz="2300" kern="1200"/>
            <a:t>To analyse the risk, return, and correlation characteristics of the identified behavioural clusters </a:t>
          </a:r>
          <a:endParaRPr lang="en-US" sz="2300" kern="1200"/>
        </a:p>
      </dsp:txBody>
      <dsp:txXfrm>
        <a:off x="62808" y="2822888"/>
        <a:ext cx="6541217" cy="1161018"/>
      </dsp:txXfrm>
    </dsp:sp>
    <dsp:sp modelId="{7A62A632-5F3D-4EAF-8B38-8DF29B10840A}">
      <dsp:nvSpPr>
        <dsp:cNvPr id="0" name=""/>
        <dsp:cNvSpPr/>
      </dsp:nvSpPr>
      <dsp:spPr>
        <a:xfrm>
          <a:off x="0" y="4112954"/>
          <a:ext cx="6666833" cy="1286634"/>
        </a:xfrm>
        <a:prstGeom prst="round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IN" sz="2300" kern="1200"/>
            <a:t>To evaluate whether behaviour-based stock selection can provide meaningful diversification compared with sector-based selection</a:t>
          </a:r>
          <a:endParaRPr lang="en-US" sz="2300" kern="1200"/>
        </a:p>
      </dsp:txBody>
      <dsp:txXfrm>
        <a:off x="62808" y="4175762"/>
        <a:ext cx="6541217" cy="1161018"/>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DF937-9B35-0963-B7E5-34CF301008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0D28527-EDCF-7A79-AFC9-4D3F53DE63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722D314-2B59-B390-F10F-A9E0402CF5FD}"/>
              </a:ext>
            </a:extLst>
          </p:cNvPr>
          <p:cNvSpPr>
            <a:spLocks noGrp="1"/>
          </p:cNvSpPr>
          <p:nvPr>
            <p:ph type="dt" sz="half" idx="10"/>
          </p:nvPr>
        </p:nvSpPr>
        <p:spPr/>
        <p:txBody>
          <a:bodyPr/>
          <a:lstStyle/>
          <a:p>
            <a:fld id="{84271AAA-DC78-4D35-B8E6-FE6EA644F21F}" type="datetimeFigureOut">
              <a:rPr lang="en-IN" smtClean="0"/>
              <a:t>17-08-2026</a:t>
            </a:fld>
            <a:endParaRPr lang="en-IN"/>
          </a:p>
        </p:txBody>
      </p:sp>
      <p:sp>
        <p:nvSpPr>
          <p:cNvPr id="5" name="Footer Placeholder 4">
            <a:extLst>
              <a:ext uri="{FF2B5EF4-FFF2-40B4-BE49-F238E27FC236}">
                <a16:creationId xmlns:a16="http://schemas.microsoft.com/office/drawing/2014/main" id="{44388886-2DDE-8BAE-4075-278E4B0639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55EF85-B235-CEC3-01A9-6F59AE628724}"/>
              </a:ext>
            </a:extLst>
          </p:cNvPr>
          <p:cNvSpPr>
            <a:spLocks noGrp="1"/>
          </p:cNvSpPr>
          <p:nvPr>
            <p:ph type="sldNum" sz="quarter" idx="12"/>
          </p:nvPr>
        </p:nvSpPr>
        <p:spPr/>
        <p:txBody>
          <a:bodyPr/>
          <a:lstStyle/>
          <a:p>
            <a:fld id="{28C2B896-453D-48CC-ACF6-C91B3CE0F99B}" type="slidenum">
              <a:rPr lang="en-IN" smtClean="0"/>
              <a:t>‹#›</a:t>
            </a:fld>
            <a:endParaRPr lang="en-IN"/>
          </a:p>
        </p:txBody>
      </p:sp>
    </p:spTree>
    <p:extLst>
      <p:ext uri="{BB962C8B-B14F-4D97-AF65-F5344CB8AC3E}">
        <p14:creationId xmlns:p14="http://schemas.microsoft.com/office/powerpoint/2010/main" val="37253818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B37DB-48C2-3CCD-3C63-BB4564BF898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CFA13F7-08B9-909E-FB0F-40C63C133A3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515E41-AC6B-F6A4-F91F-E38379CABCF8}"/>
              </a:ext>
            </a:extLst>
          </p:cNvPr>
          <p:cNvSpPr>
            <a:spLocks noGrp="1"/>
          </p:cNvSpPr>
          <p:nvPr>
            <p:ph type="dt" sz="half" idx="10"/>
          </p:nvPr>
        </p:nvSpPr>
        <p:spPr/>
        <p:txBody>
          <a:bodyPr/>
          <a:lstStyle/>
          <a:p>
            <a:fld id="{84271AAA-DC78-4D35-B8E6-FE6EA644F21F}" type="datetimeFigureOut">
              <a:rPr lang="en-IN" smtClean="0"/>
              <a:t>17-08-2026</a:t>
            </a:fld>
            <a:endParaRPr lang="en-IN"/>
          </a:p>
        </p:txBody>
      </p:sp>
      <p:sp>
        <p:nvSpPr>
          <p:cNvPr id="5" name="Footer Placeholder 4">
            <a:extLst>
              <a:ext uri="{FF2B5EF4-FFF2-40B4-BE49-F238E27FC236}">
                <a16:creationId xmlns:a16="http://schemas.microsoft.com/office/drawing/2014/main" id="{B8D0C4E5-806B-B26F-3A12-F29A4E883D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F39D972-C237-14DA-B481-E5467E619AE9}"/>
              </a:ext>
            </a:extLst>
          </p:cNvPr>
          <p:cNvSpPr>
            <a:spLocks noGrp="1"/>
          </p:cNvSpPr>
          <p:nvPr>
            <p:ph type="sldNum" sz="quarter" idx="12"/>
          </p:nvPr>
        </p:nvSpPr>
        <p:spPr/>
        <p:txBody>
          <a:bodyPr/>
          <a:lstStyle/>
          <a:p>
            <a:fld id="{28C2B896-453D-48CC-ACF6-C91B3CE0F99B}" type="slidenum">
              <a:rPr lang="en-IN" smtClean="0"/>
              <a:t>‹#›</a:t>
            </a:fld>
            <a:endParaRPr lang="en-IN"/>
          </a:p>
        </p:txBody>
      </p:sp>
    </p:spTree>
    <p:extLst>
      <p:ext uri="{BB962C8B-B14F-4D97-AF65-F5344CB8AC3E}">
        <p14:creationId xmlns:p14="http://schemas.microsoft.com/office/powerpoint/2010/main" val="21014960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FAF1E-68BE-3A08-07C2-199EE523C42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DEFFA48-1299-AF7D-7918-1AFD3A9194A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ABFEDFA-23D3-9234-346D-E67A2CF62805}"/>
              </a:ext>
            </a:extLst>
          </p:cNvPr>
          <p:cNvSpPr>
            <a:spLocks noGrp="1"/>
          </p:cNvSpPr>
          <p:nvPr>
            <p:ph type="dt" sz="half" idx="10"/>
          </p:nvPr>
        </p:nvSpPr>
        <p:spPr/>
        <p:txBody>
          <a:bodyPr/>
          <a:lstStyle/>
          <a:p>
            <a:fld id="{84271AAA-DC78-4D35-B8E6-FE6EA644F21F}" type="datetimeFigureOut">
              <a:rPr lang="en-IN" smtClean="0"/>
              <a:t>17-08-2026</a:t>
            </a:fld>
            <a:endParaRPr lang="en-IN"/>
          </a:p>
        </p:txBody>
      </p:sp>
      <p:sp>
        <p:nvSpPr>
          <p:cNvPr id="5" name="Footer Placeholder 4">
            <a:extLst>
              <a:ext uri="{FF2B5EF4-FFF2-40B4-BE49-F238E27FC236}">
                <a16:creationId xmlns:a16="http://schemas.microsoft.com/office/drawing/2014/main" id="{081A6A12-BCDD-B9B5-439D-21A6BEA447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7E3683-C5D1-8FF0-5388-BA4CA3EDFDE2}"/>
              </a:ext>
            </a:extLst>
          </p:cNvPr>
          <p:cNvSpPr>
            <a:spLocks noGrp="1"/>
          </p:cNvSpPr>
          <p:nvPr>
            <p:ph type="sldNum" sz="quarter" idx="12"/>
          </p:nvPr>
        </p:nvSpPr>
        <p:spPr/>
        <p:txBody>
          <a:bodyPr/>
          <a:lstStyle/>
          <a:p>
            <a:fld id="{28C2B896-453D-48CC-ACF6-C91B3CE0F99B}" type="slidenum">
              <a:rPr lang="en-IN" smtClean="0"/>
              <a:t>‹#›</a:t>
            </a:fld>
            <a:endParaRPr lang="en-IN"/>
          </a:p>
        </p:txBody>
      </p:sp>
    </p:spTree>
    <p:extLst>
      <p:ext uri="{BB962C8B-B14F-4D97-AF65-F5344CB8AC3E}">
        <p14:creationId xmlns:p14="http://schemas.microsoft.com/office/powerpoint/2010/main" val="24178399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A288A-A24A-104E-1AF5-259D0181F88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81CFFC6-E2D0-81D2-8C8F-0B9B46E257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E04BA89-2876-3478-1CBD-BC9937D35F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6232C1B-442A-B2ED-C181-FEF486474E3D}"/>
              </a:ext>
            </a:extLst>
          </p:cNvPr>
          <p:cNvSpPr>
            <a:spLocks noGrp="1"/>
          </p:cNvSpPr>
          <p:nvPr>
            <p:ph type="dt" sz="half" idx="10"/>
          </p:nvPr>
        </p:nvSpPr>
        <p:spPr/>
        <p:txBody>
          <a:bodyPr/>
          <a:lstStyle/>
          <a:p>
            <a:fld id="{84271AAA-DC78-4D35-B8E6-FE6EA644F21F}" type="datetimeFigureOut">
              <a:rPr lang="en-IN" smtClean="0"/>
              <a:t>17-08-2026</a:t>
            </a:fld>
            <a:endParaRPr lang="en-IN"/>
          </a:p>
        </p:txBody>
      </p:sp>
      <p:sp>
        <p:nvSpPr>
          <p:cNvPr id="6" name="Footer Placeholder 5">
            <a:extLst>
              <a:ext uri="{FF2B5EF4-FFF2-40B4-BE49-F238E27FC236}">
                <a16:creationId xmlns:a16="http://schemas.microsoft.com/office/drawing/2014/main" id="{40EFE4B2-E10D-507C-4D07-BD6E083D592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3AB38AE-5A84-119D-DF24-FB8A5EB4159C}"/>
              </a:ext>
            </a:extLst>
          </p:cNvPr>
          <p:cNvSpPr>
            <a:spLocks noGrp="1"/>
          </p:cNvSpPr>
          <p:nvPr>
            <p:ph type="sldNum" sz="quarter" idx="12"/>
          </p:nvPr>
        </p:nvSpPr>
        <p:spPr/>
        <p:txBody>
          <a:bodyPr/>
          <a:lstStyle/>
          <a:p>
            <a:fld id="{28C2B896-453D-48CC-ACF6-C91B3CE0F99B}" type="slidenum">
              <a:rPr lang="en-IN" smtClean="0"/>
              <a:t>‹#›</a:t>
            </a:fld>
            <a:endParaRPr lang="en-IN"/>
          </a:p>
        </p:txBody>
      </p:sp>
    </p:spTree>
    <p:extLst>
      <p:ext uri="{BB962C8B-B14F-4D97-AF65-F5344CB8AC3E}">
        <p14:creationId xmlns:p14="http://schemas.microsoft.com/office/powerpoint/2010/main" val="14196684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C28DB-73BF-565E-1EA9-B83A3534917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3CCF1EA-6AC3-00B6-A47D-A1A768F427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626B33-9918-6AAF-1640-A43358F8295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EE866BD-6463-043A-E1BA-6B33AAE31E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73ADAFA-507E-4739-24D7-86F7896B01E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5C3772F-F03C-4BB0-1283-42A1F3067FE5}"/>
              </a:ext>
            </a:extLst>
          </p:cNvPr>
          <p:cNvSpPr>
            <a:spLocks noGrp="1"/>
          </p:cNvSpPr>
          <p:nvPr>
            <p:ph type="dt" sz="half" idx="10"/>
          </p:nvPr>
        </p:nvSpPr>
        <p:spPr/>
        <p:txBody>
          <a:bodyPr/>
          <a:lstStyle/>
          <a:p>
            <a:fld id="{84271AAA-DC78-4D35-B8E6-FE6EA644F21F}" type="datetimeFigureOut">
              <a:rPr lang="en-IN" smtClean="0"/>
              <a:t>17-08-2026</a:t>
            </a:fld>
            <a:endParaRPr lang="en-IN"/>
          </a:p>
        </p:txBody>
      </p:sp>
      <p:sp>
        <p:nvSpPr>
          <p:cNvPr id="8" name="Footer Placeholder 7">
            <a:extLst>
              <a:ext uri="{FF2B5EF4-FFF2-40B4-BE49-F238E27FC236}">
                <a16:creationId xmlns:a16="http://schemas.microsoft.com/office/drawing/2014/main" id="{1177B014-54DA-44D7-FC80-C7A1CA32D9D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2CBDA07-4C22-9FE4-2456-0C949859AB4D}"/>
              </a:ext>
            </a:extLst>
          </p:cNvPr>
          <p:cNvSpPr>
            <a:spLocks noGrp="1"/>
          </p:cNvSpPr>
          <p:nvPr>
            <p:ph type="sldNum" sz="quarter" idx="12"/>
          </p:nvPr>
        </p:nvSpPr>
        <p:spPr/>
        <p:txBody>
          <a:bodyPr/>
          <a:lstStyle/>
          <a:p>
            <a:fld id="{28C2B896-453D-48CC-ACF6-C91B3CE0F99B}" type="slidenum">
              <a:rPr lang="en-IN" smtClean="0"/>
              <a:t>‹#›</a:t>
            </a:fld>
            <a:endParaRPr lang="en-IN"/>
          </a:p>
        </p:txBody>
      </p:sp>
    </p:spTree>
    <p:extLst>
      <p:ext uri="{BB962C8B-B14F-4D97-AF65-F5344CB8AC3E}">
        <p14:creationId xmlns:p14="http://schemas.microsoft.com/office/powerpoint/2010/main" val="2734004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29A0B-BEFB-F9DD-9D46-829A4E462F1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19EF903-C27C-C8D8-52BE-96C8F3D8BCBE}"/>
              </a:ext>
            </a:extLst>
          </p:cNvPr>
          <p:cNvSpPr>
            <a:spLocks noGrp="1"/>
          </p:cNvSpPr>
          <p:nvPr>
            <p:ph type="dt" sz="half" idx="10"/>
          </p:nvPr>
        </p:nvSpPr>
        <p:spPr/>
        <p:txBody>
          <a:bodyPr/>
          <a:lstStyle/>
          <a:p>
            <a:fld id="{84271AAA-DC78-4D35-B8E6-FE6EA644F21F}" type="datetimeFigureOut">
              <a:rPr lang="en-IN" smtClean="0"/>
              <a:t>17-08-2026</a:t>
            </a:fld>
            <a:endParaRPr lang="en-IN"/>
          </a:p>
        </p:txBody>
      </p:sp>
      <p:sp>
        <p:nvSpPr>
          <p:cNvPr id="4" name="Footer Placeholder 3">
            <a:extLst>
              <a:ext uri="{FF2B5EF4-FFF2-40B4-BE49-F238E27FC236}">
                <a16:creationId xmlns:a16="http://schemas.microsoft.com/office/drawing/2014/main" id="{3DF03C33-555D-B447-7222-34022657FDF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1CBEE4E-63C3-C9E3-669B-51B72CB98D61}"/>
              </a:ext>
            </a:extLst>
          </p:cNvPr>
          <p:cNvSpPr>
            <a:spLocks noGrp="1"/>
          </p:cNvSpPr>
          <p:nvPr>
            <p:ph type="sldNum" sz="quarter" idx="12"/>
          </p:nvPr>
        </p:nvSpPr>
        <p:spPr/>
        <p:txBody>
          <a:bodyPr/>
          <a:lstStyle/>
          <a:p>
            <a:fld id="{28C2B896-453D-48CC-ACF6-C91B3CE0F99B}" type="slidenum">
              <a:rPr lang="en-IN" smtClean="0"/>
              <a:t>‹#›</a:t>
            </a:fld>
            <a:endParaRPr lang="en-IN"/>
          </a:p>
        </p:txBody>
      </p:sp>
    </p:spTree>
    <p:extLst>
      <p:ext uri="{BB962C8B-B14F-4D97-AF65-F5344CB8AC3E}">
        <p14:creationId xmlns:p14="http://schemas.microsoft.com/office/powerpoint/2010/main" val="18697936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3B343A-6E06-7D67-E96A-E3A614AB7955}"/>
              </a:ext>
            </a:extLst>
          </p:cNvPr>
          <p:cNvSpPr>
            <a:spLocks noGrp="1"/>
          </p:cNvSpPr>
          <p:nvPr>
            <p:ph type="dt" sz="half" idx="10"/>
          </p:nvPr>
        </p:nvSpPr>
        <p:spPr/>
        <p:txBody>
          <a:bodyPr/>
          <a:lstStyle/>
          <a:p>
            <a:fld id="{84271AAA-DC78-4D35-B8E6-FE6EA644F21F}" type="datetimeFigureOut">
              <a:rPr lang="en-IN" smtClean="0"/>
              <a:t>17-08-2026</a:t>
            </a:fld>
            <a:endParaRPr lang="en-IN"/>
          </a:p>
        </p:txBody>
      </p:sp>
      <p:sp>
        <p:nvSpPr>
          <p:cNvPr id="3" name="Footer Placeholder 2">
            <a:extLst>
              <a:ext uri="{FF2B5EF4-FFF2-40B4-BE49-F238E27FC236}">
                <a16:creationId xmlns:a16="http://schemas.microsoft.com/office/drawing/2014/main" id="{3EBE79CE-5634-A456-EF1B-0195CC4E5F6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63416BF-D75B-8B8C-3B20-EF200A1A60EA}"/>
              </a:ext>
            </a:extLst>
          </p:cNvPr>
          <p:cNvSpPr>
            <a:spLocks noGrp="1"/>
          </p:cNvSpPr>
          <p:nvPr>
            <p:ph type="sldNum" sz="quarter" idx="12"/>
          </p:nvPr>
        </p:nvSpPr>
        <p:spPr/>
        <p:txBody>
          <a:bodyPr/>
          <a:lstStyle/>
          <a:p>
            <a:fld id="{28C2B896-453D-48CC-ACF6-C91B3CE0F99B}" type="slidenum">
              <a:rPr lang="en-IN" smtClean="0"/>
              <a:t>‹#›</a:t>
            </a:fld>
            <a:endParaRPr lang="en-IN"/>
          </a:p>
        </p:txBody>
      </p:sp>
    </p:spTree>
    <p:extLst>
      <p:ext uri="{BB962C8B-B14F-4D97-AF65-F5344CB8AC3E}">
        <p14:creationId xmlns:p14="http://schemas.microsoft.com/office/powerpoint/2010/main" val="41325702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C627C-7848-19F2-C7F8-6A8E04F7A2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72360AE-52A2-73E3-5CF1-35100B058C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364C918-D5CC-CDFD-4AE7-25A840FB56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23EC60-559E-9111-A1D4-F454A8AA9ED9}"/>
              </a:ext>
            </a:extLst>
          </p:cNvPr>
          <p:cNvSpPr>
            <a:spLocks noGrp="1"/>
          </p:cNvSpPr>
          <p:nvPr>
            <p:ph type="dt" sz="half" idx="10"/>
          </p:nvPr>
        </p:nvSpPr>
        <p:spPr/>
        <p:txBody>
          <a:bodyPr/>
          <a:lstStyle/>
          <a:p>
            <a:fld id="{84271AAA-DC78-4D35-B8E6-FE6EA644F21F}" type="datetimeFigureOut">
              <a:rPr lang="en-IN" smtClean="0"/>
              <a:t>17-08-2026</a:t>
            </a:fld>
            <a:endParaRPr lang="en-IN"/>
          </a:p>
        </p:txBody>
      </p:sp>
      <p:sp>
        <p:nvSpPr>
          <p:cNvPr id="6" name="Footer Placeholder 5">
            <a:extLst>
              <a:ext uri="{FF2B5EF4-FFF2-40B4-BE49-F238E27FC236}">
                <a16:creationId xmlns:a16="http://schemas.microsoft.com/office/drawing/2014/main" id="{471DC9C8-74DA-B024-711D-D191223E60B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702B2E2-9C79-A15A-F0B6-8EEFA40736CD}"/>
              </a:ext>
            </a:extLst>
          </p:cNvPr>
          <p:cNvSpPr>
            <a:spLocks noGrp="1"/>
          </p:cNvSpPr>
          <p:nvPr>
            <p:ph type="sldNum" sz="quarter" idx="12"/>
          </p:nvPr>
        </p:nvSpPr>
        <p:spPr/>
        <p:txBody>
          <a:bodyPr/>
          <a:lstStyle/>
          <a:p>
            <a:fld id="{28C2B896-453D-48CC-ACF6-C91B3CE0F99B}" type="slidenum">
              <a:rPr lang="en-IN" smtClean="0"/>
              <a:t>‹#›</a:t>
            </a:fld>
            <a:endParaRPr lang="en-IN"/>
          </a:p>
        </p:txBody>
      </p:sp>
    </p:spTree>
    <p:extLst>
      <p:ext uri="{BB962C8B-B14F-4D97-AF65-F5344CB8AC3E}">
        <p14:creationId xmlns:p14="http://schemas.microsoft.com/office/powerpoint/2010/main" val="40486261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80AA6-64D5-31D7-E1AF-B8875B230B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1DA0491-3F1D-10AD-4E12-934ACE5C99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07B3877-18BF-FF08-A49A-951AA2F6AE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3F9468-9912-C409-4A93-643E502F2BFD}"/>
              </a:ext>
            </a:extLst>
          </p:cNvPr>
          <p:cNvSpPr>
            <a:spLocks noGrp="1"/>
          </p:cNvSpPr>
          <p:nvPr>
            <p:ph type="dt" sz="half" idx="10"/>
          </p:nvPr>
        </p:nvSpPr>
        <p:spPr/>
        <p:txBody>
          <a:bodyPr/>
          <a:lstStyle/>
          <a:p>
            <a:fld id="{84271AAA-DC78-4D35-B8E6-FE6EA644F21F}" type="datetimeFigureOut">
              <a:rPr lang="en-IN" smtClean="0"/>
              <a:t>17-08-2026</a:t>
            </a:fld>
            <a:endParaRPr lang="en-IN"/>
          </a:p>
        </p:txBody>
      </p:sp>
      <p:sp>
        <p:nvSpPr>
          <p:cNvPr id="6" name="Footer Placeholder 5">
            <a:extLst>
              <a:ext uri="{FF2B5EF4-FFF2-40B4-BE49-F238E27FC236}">
                <a16:creationId xmlns:a16="http://schemas.microsoft.com/office/drawing/2014/main" id="{DCDA0777-3E47-5DE1-6D21-34DD2F7EAEF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9E2905F-F715-F394-3D40-5B6B3E33D40B}"/>
              </a:ext>
            </a:extLst>
          </p:cNvPr>
          <p:cNvSpPr>
            <a:spLocks noGrp="1"/>
          </p:cNvSpPr>
          <p:nvPr>
            <p:ph type="sldNum" sz="quarter" idx="12"/>
          </p:nvPr>
        </p:nvSpPr>
        <p:spPr/>
        <p:txBody>
          <a:bodyPr/>
          <a:lstStyle/>
          <a:p>
            <a:fld id="{28C2B896-453D-48CC-ACF6-C91B3CE0F99B}" type="slidenum">
              <a:rPr lang="en-IN" smtClean="0"/>
              <a:t>‹#›</a:t>
            </a:fld>
            <a:endParaRPr lang="en-IN"/>
          </a:p>
        </p:txBody>
      </p:sp>
    </p:spTree>
    <p:extLst>
      <p:ext uri="{BB962C8B-B14F-4D97-AF65-F5344CB8AC3E}">
        <p14:creationId xmlns:p14="http://schemas.microsoft.com/office/powerpoint/2010/main" val="3286172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A853F-8C6B-A493-F266-E922B1F01EC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C54E804-947D-72BE-90F9-3D1784B623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4D817C5-318A-D3CD-4646-8D8293C02CF1}"/>
              </a:ext>
            </a:extLst>
          </p:cNvPr>
          <p:cNvSpPr>
            <a:spLocks noGrp="1"/>
          </p:cNvSpPr>
          <p:nvPr>
            <p:ph type="dt" sz="half" idx="10"/>
          </p:nvPr>
        </p:nvSpPr>
        <p:spPr/>
        <p:txBody>
          <a:bodyPr/>
          <a:lstStyle/>
          <a:p>
            <a:fld id="{84271AAA-DC78-4D35-B8E6-FE6EA644F21F}" type="datetimeFigureOut">
              <a:rPr lang="en-IN" smtClean="0"/>
              <a:t>17-08-2026</a:t>
            </a:fld>
            <a:endParaRPr lang="en-IN"/>
          </a:p>
        </p:txBody>
      </p:sp>
      <p:sp>
        <p:nvSpPr>
          <p:cNvPr id="5" name="Footer Placeholder 4">
            <a:extLst>
              <a:ext uri="{FF2B5EF4-FFF2-40B4-BE49-F238E27FC236}">
                <a16:creationId xmlns:a16="http://schemas.microsoft.com/office/drawing/2014/main" id="{DAE6337F-8172-9663-5725-52C99C1B35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627F34-B790-1014-B1AA-E11D470F70B7}"/>
              </a:ext>
            </a:extLst>
          </p:cNvPr>
          <p:cNvSpPr>
            <a:spLocks noGrp="1"/>
          </p:cNvSpPr>
          <p:nvPr>
            <p:ph type="sldNum" sz="quarter" idx="12"/>
          </p:nvPr>
        </p:nvSpPr>
        <p:spPr/>
        <p:txBody>
          <a:bodyPr/>
          <a:lstStyle/>
          <a:p>
            <a:fld id="{28C2B896-453D-48CC-ACF6-C91B3CE0F99B}" type="slidenum">
              <a:rPr lang="en-IN" smtClean="0"/>
              <a:t>‹#›</a:t>
            </a:fld>
            <a:endParaRPr lang="en-IN"/>
          </a:p>
        </p:txBody>
      </p:sp>
    </p:spTree>
    <p:extLst>
      <p:ext uri="{BB962C8B-B14F-4D97-AF65-F5344CB8AC3E}">
        <p14:creationId xmlns:p14="http://schemas.microsoft.com/office/powerpoint/2010/main" val="20250623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40A324-8320-144C-54DF-67C2379A521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4C7E023-FF77-FF94-C1D3-BB01484107B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DA9B01-E9C0-F3CD-11F3-23D820CF9276}"/>
              </a:ext>
            </a:extLst>
          </p:cNvPr>
          <p:cNvSpPr>
            <a:spLocks noGrp="1"/>
          </p:cNvSpPr>
          <p:nvPr>
            <p:ph type="dt" sz="half" idx="10"/>
          </p:nvPr>
        </p:nvSpPr>
        <p:spPr/>
        <p:txBody>
          <a:bodyPr/>
          <a:lstStyle/>
          <a:p>
            <a:fld id="{84271AAA-DC78-4D35-B8E6-FE6EA644F21F}" type="datetimeFigureOut">
              <a:rPr lang="en-IN" smtClean="0"/>
              <a:t>17-08-2026</a:t>
            </a:fld>
            <a:endParaRPr lang="en-IN"/>
          </a:p>
        </p:txBody>
      </p:sp>
      <p:sp>
        <p:nvSpPr>
          <p:cNvPr id="5" name="Footer Placeholder 4">
            <a:extLst>
              <a:ext uri="{FF2B5EF4-FFF2-40B4-BE49-F238E27FC236}">
                <a16:creationId xmlns:a16="http://schemas.microsoft.com/office/drawing/2014/main" id="{4C179EAA-1F26-81FF-FD14-A1F794CF79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274320-7217-B95F-1C8C-46C07DF5B211}"/>
              </a:ext>
            </a:extLst>
          </p:cNvPr>
          <p:cNvSpPr>
            <a:spLocks noGrp="1"/>
          </p:cNvSpPr>
          <p:nvPr>
            <p:ph type="sldNum" sz="quarter" idx="12"/>
          </p:nvPr>
        </p:nvSpPr>
        <p:spPr/>
        <p:txBody>
          <a:bodyPr/>
          <a:lstStyle/>
          <a:p>
            <a:fld id="{28C2B896-453D-48CC-ACF6-C91B3CE0F99B}" type="slidenum">
              <a:rPr lang="en-IN" smtClean="0"/>
              <a:t>‹#›</a:t>
            </a:fld>
            <a:endParaRPr lang="en-IN"/>
          </a:p>
        </p:txBody>
      </p:sp>
    </p:spTree>
    <p:extLst>
      <p:ext uri="{BB962C8B-B14F-4D97-AF65-F5344CB8AC3E}">
        <p14:creationId xmlns:p14="http://schemas.microsoft.com/office/powerpoint/2010/main" val="3394841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D787FC-0154-EB92-8EE2-E25553844C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7D326E6-E4E9-614E-09BE-934B8B694D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3B04BCD-97C2-2F71-8E88-C34FE7FA7D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271AAA-DC78-4D35-B8E6-FE6EA644F21F}" type="datetimeFigureOut">
              <a:rPr lang="en-IN" smtClean="0"/>
              <a:t>17-08-2026</a:t>
            </a:fld>
            <a:endParaRPr lang="en-IN"/>
          </a:p>
        </p:txBody>
      </p:sp>
      <p:sp>
        <p:nvSpPr>
          <p:cNvPr id="5" name="Footer Placeholder 4">
            <a:extLst>
              <a:ext uri="{FF2B5EF4-FFF2-40B4-BE49-F238E27FC236}">
                <a16:creationId xmlns:a16="http://schemas.microsoft.com/office/drawing/2014/main" id="{05E2A703-709B-7E00-CDD9-B9776C6B26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45157C2-BC2B-9A18-A47C-1FE5EA7575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C2B896-453D-48CC-ACF6-C91B3CE0F99B}" type="slidenum">
              <a:rPr lang="en-IN" smtClean="0"/>
              <a:t>‹#›</a:t>
            </a:fld>
            <a:endParaRPr lang="en-IN"/>
          </a:p>
        </p:txBody>
      </p:sp>
    </p:spTree>
    <p:extLst>
      <p:ext uri="{BB962C8B-B14F-4D97-AF65-F5344CB8AC3E}">
        <p14:creationId xmlns:p14="http://schemas.microsoft.com/office/powerpoint/2010/main" val="13173104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03D8F9-E8DB-CA31-F959-F92024AD4D07}"/>
              </a:ext>
            </a:extLst>
          </p:cNvPr>
          <p:cNvSpPr>
            <a:spLocks noGrp="1"/>
          </p:cNvSpPr>
          <p:nvPr>
            <p:ph type="title"/>
          </p:nvPr>
        </p:nvSpPr>
        <p:spPr>
          <a:xfrm>
            <a:off x="1371599" y="294538"/>
            <a:ext cx="9895951" cy="1033669"/>
          </a:xfrm>
        </p:spPr>
        <p:txBody>
          <a:bodyPr>
            <a:normAutofit/>
          </a:bodyPr>
          <a:lstStyle/>
          <a:p>
            <a:r>
              <a:rPr lang="en-IN" sz="3400">
                <a:solidFill>
                  <a:srgbClr val="FFFFFF"/>
                </a:solidFill>
              </a:rPr>
              <a:t>AI-Driven Stock Behavioural Clustering for Risk and Diversification Analysis</a:t>
            </a:r>
            <a:endParaRPr lang="en-US" sz="3400">
              <a:solidFill>
                <a:srgbClr val="FFFFFF"/>
              </a:solidFill>
            </a:endParaRPr>
          </a:p>
        </p:txBody>
      </p:sp>
      <p:sp>
        <p:nvSpPr>
          <p:cNvPr id="3" name="Content Placeholder 2">
            <a:extLst>
              <a:ext uri="{FF2B5EF4-FFF2-40B4-BE49-F238E27FC236}">
                <a16:creationId xmlns:a16="http://schemas.microsoft.com/office/drawing/2014/main" id="{B7BB4A2A-E473-AFC0-5E03-2931FCFEDFA9}"/>
              </a:ext>
            </a:extLst>
          </p:cNvPr>
          <p:cNvSpPr>
            <a:spLocks noGrp="1"/>
          </p:cNvSpPr>
          <p:nvPr>
            <p:ph idx="1"/>
          </p:nvPr>
        </p:nvSpPr>
        <p:spPr>
          <a:xfrm>
            <a:off x="1371599" y="2318197"/>
            <a:ext cx="9724031" cy="3683358"/>
          </a:xfrm>
        </p:spPr>
        <p:txBody>
          <a:bodyPr anchor="ctr">
            <a:normAutofit/>
          </a:bodyPr>
          <a:lstStyle/>
          <a:p>
            <a:pPr marL="0" indent="0" algn="ctr">
              <a:buNone/>
            </a:pPr>
            <a:r>
              <a:rPr lang="en-US" sz="1800" b="1">
                <a:latin typeface="Inter"/>
              </a:rPr>
              <a:t>23CSE322: Financial Engineering</a:t>
            </a:r>
            <a:endParaRPr lang="en-US" sz="1800">
              <a:latin typeface="Inter"/>
              <a:ea typeface="Calibri" panose="020F0502020204030204"/>
              <a:cs typeface="Calibri" panose="020F0502020204030204"/>
            </a:endParaRPr>
          </a:p>
          <a:p>
            <a:pPr marL="0" indent="0" algn="ctr">
              <a:buNone/>
            </a:pPr>
            <a:r>
              <a:rPr lang="en-US" sz="1800" b="1">
                <a:latin typeface="Inter"/>
              </a:rPr>
              <a:t>Mid-Semester Review</a:t>
            </a:r>
          </a:p>
          <a:p>
            <a:pPr marL="0" indent="0" algn="ctr">
              <a:buNone/>
            </a:pPr>
            <a:r>
              <a:rPr lang="en-US" sz="1800" b="1" err="1">
                <a:latin typeface="Inter"/>
              </a:rPr>
              <a:t>Btech</a:t>
            </a:r>
            <a:r>
              <a:rPr lang="en-US" sz="1800" b="1" dirty="0">
                <a:latin typeface="Inter"/>
              </a:rPr>
              <a:t>(AI &amp; DS)</a:t>
            </a:r>
          </a:p>
          <a:p>
            <a:pPr marL="0" indent="0" algn="ctr">
              <a:buNone/>
            </a:pPr>
            <a:endParaRPr lang="en-US" sz="1800" b="1" dirty="0">
              <a:latin typeface="Inter"/>
            </a:endParaRPr>
          </a:p>
          <a:p>
            <a:pPr marL="0" indent="0" algn="ctr">
              <a:buNone/>
            </a:pPr>
            <a:r>
              <a:rPr lang="en-US" sz="1800" b="1" u="sng">
                <a:latin typeface="Inter"/>
              </a:rPr>
              <a:t>Team B7:</a:t>
            </a:r>
          </a:p>
          <a:p>
            <a:pPr marL="0" indent="0" algn="ctr">
              <a:buNone/>
            </a:pPr>
            <a:r>
              <a:rPr lang="en-US" sz="1800">
                <a:latin typeface="Inter"/>
              </a:rPr>
              <a:t>B Karthikeya  (CB.AI.U4AID23109)</a:t>
            </a:r>
          </a:p>
          <a:p>
            <a:pPr marL="0" indent="0" algn="ctr">
              <a:buNone/>
            </a:pPr>
            <a:r>
              <a:rPr lang="en-US" sz="1800">
                <a:latin typeface="Inter"/>
              </a:rPr>
              <a:t>M Karthik Reddy  (CB.AI.U4AID23123)</a:t>
            </a:r>
          </a:p>
          <a:p>
            <a:pPr marL="0" indent="0" algn="ctr">
              <a:buNone/>
            </a:pPr>
            <a:r>
              <a:rPr lang="en-US" sz="1800">
                <a:latin typeface="Inter"/>
              </a:rPr>
              <a:t>Satya Karthikeya  (CB.AI.U4AID23128)</a:t>
            </a:r>
          </a:p>
          <a:p>
            <a:pPr marL="0" indent="0" algn="ctr">
              <a:buNone/>
            </a:pPr>
            <a:r>
              <a:rPr lang="en-US" sz="1800">
                <a:latin typeface="Inter"/>
              </a:rPr>
              <a:t>P Rohith  (CB.AI.U4AID23131)</a:t>
            </a:r>
          </a:p>
          <a:p>
            <a:pPr algn="ctr"/>
            <a:endParaRPr lang="en-IN" sz="1800" dirty="0">
              <a:ea typeface="Calibri" panose="020F0502020204030204"/>
              <a:cs typeface="Calibri" panose="020F0502020204030204"/>
            </a:endParaRPr>
          </a:p>
        </p:txBody>
      </p:sp>
    </p:spTree>
    <p:extLst>
      <p:ext uri="{BB962C8B-B14F-4D97-AF65-F5344CB8AC3E}">
        <p14:creationId xmlns:p14="http://schemas.microsoft.com/office/powerpoint/2010/main" val="3395534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8C0B22-690E-EF42-89FD-441F33670579}"/>
              </a:ext>
            </a:extLst>
          </p:cNvPr>
          <p:cNvSpPr>
            <a:spLocks noGrp="1"/>
          </p:cNvSpPr>
          <p:nvPr>
            <p:ph type="title"/>
          </p:nvPr>
        </p:nvSpPr>
        <p:spPr>
          <a:xfrm>
            <a:off x="1371599" y="294538"/>
            <a:ext cx="9895951" cy="1033669"/>
          </a:xfrm>
        </p:spPr>
        <p:txBody>
          <a:bodyPr>
            <a:normAutofit/>
          </a:bodyPr>
          <a:lstStyle/>
          <a:p>
            <a:r>
              <a:rPr lang="en-IN" sz="4000">
                <a:solidFill>
                  <a:srgbClr val="FFFFFF"/>
                </a:solidFill>
              </a:rPr>
              <a:t>Table of contents</a:t>
            </a:r>
          </a:p>
        </p:txBody>
      </p:sp>
      <p:sp>
        <p:nvSpPr>
          <p:cNvPr id="3" name="Content Placeholder 2">
            <a:extLst>
              <a:ext uri="{FF2B5EF4-FFF2-40B4-BE49-F238E27FC236}">
                <a16:creationId xmlns:a16="http://schemas.microsoft.com/office/drawing/2014/main" id="{501AEF82-3D94-E6F4-43B2-1CBAF45691BE}"/>
              </a:ext>
            </a:extLst>
          </p:cNvPr>
          <p:cNvSpPr>
            <a:spLocks noGrp="1"/>
          </p:cNvSpPr>
          <p:nvPr>
            <p:ph idx="1"/>
          </p:nvPr>
        </p:nvSpPr>
        <p:spPr>
          <a:xfrm>
            <a:off x="1371599" y="2318197"/>
            <a:ext cx="9724031" cy="3683358"/>
          </a:xfrm>
        </p:spPr>
        <p:txBody>
          <a:bodyPr anchor="ctr">
            <a:normAutofit/>
          </a:bodyPr>
          <a:lstStyle/>
          <a:p>
            <a:r>
              <a:rPr lang="en-IN" sz="2000"/>
              <a:t>Introduction</a:t>
            </a:r>
          </a:p>
          <a:p>
            <a:r>
              <a:rPr lang="en-IN" sz="2000"/>
              <a:t>Problem Statement</a:t>
            </a:r>
          </a:p>
          <a:p>
            <a:r>
              <a:rPr lang="en-IN" sz="2000"/>
              <a:t>Objectives</a:t>
            </a:r>
          </a:p>
          <a:p>
            <a:r>
              <a:rPr lang="en-IN" sz="2000"/>
              <a:t>Dataset Description</a:t>
            </a:r>
          </a:p>
          <a:p>
            <a:r>
              <a:rPr lang="en-IN" sz="2000"/>
              <a:t>Methodology</a:t>
            </a:r>
          </a:p>
          <a:p>
            <a:r>
              <a:rPr lang="en-IN" sz="2000"/>
              <a:t>Tools and Technologies</a:t>
            </a:r>
          </a:p>
          <a:p>
            <a:r>
              <a:rPr lang="en-IN" sz="2000"/>
              <a:t>Behavioural Features &amp; Financial Measures</a:t>
            </a:r>
          </a:p>
          <a:p>
            <a:endParaRPr lang="en-IN" sz="2000"/>
          </a:p>
          <a:p>
            <a:endParaRPr lang="en-IN" sz="2000"/>
          </a:p>
        </p:txBody>
      </p:sp>
    </p:spTree>
    <p:extLst>
      <p:ext uri="{BB962C8B-B14F-4D97-AF65-F5344CB8AC3E}">
        <p14:creationId xmlns:p14="http://schemas.microsoft.com/office/powerpoint/2010/main" val="40332203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F17293D-D5CB-127B-2BB2-D970FC749189}"/>
              </a:ext>
            </a:extLst>
          </p:cNvPr>
          <p:cNvSpPr>
            <a:spLocks noGrp="1"/>
          </p:cNvSpPr>
          <p:nvPr>
            <p:ph type="title"/>
          </p:nvPr>
        </p:nvSpPr>
        <p:spPr>
          <a:xfrm>
            <a:off x="1371597" y="348865"/>
            <a:ext cx="10044023" cy="877729"/>
          </a:xfrm>
        </p:spPr>
        <p:txBody>
          <a:bodyPr anchor="ctr">
            <a:normAutofit/>
          </a:bodyPr>
          <a:lstStyle/>
          <a:p>
            <a:r>
              <a:rPr lang="en-IN" sz="4000">
                <a:solidFill>
                  <a:srgbClr val="FFFFFF"/>
                </a:solidFill>
              </a:rPr>
              <a:t>Introduction</a:t>
            </a:r>
          </a:p>
        </p:txBody>
      </p:sp>
      <p:graphicFrame>
        <p:nvGraphicFramePr>
          <p:cNvPr id="27" name="Content Placeholder 2">
            <a:extLst>
              <a:ext uri="{FF2B5EF4-FFF2-40B4-BE49-F238E27FC236}">
                <a16:creationId xmlns:a16="http://schemas.microsoft.com/office/drawing/2014/main" id="{D0B592DB-AA33-9647-E933-7EB08351D4D8}"/>
              </a:ext>
            </a:extLst>
          </p:cNvPr>
          <p:cNvGraphicFramePr>
            <a:graphicFrameLocks noGrp="1"/>
          </p:cNvGraphicFramePr>
          <p:nvPr>
            <p:ph idx="1"/>
            <p:extLst>
              <p:ext uri="{D42A27DB-BD31-4B8C-83A1-F6EECF244321}">
                <p14:modId xmlns:p14="http://schemas.microsoft.com/office/powerpoint/2010/main" val="1597726773"/>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642220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2A9AFA-B870-B19E-82A3-F1356AB91FC5}"/>
              </a:ext>
            </a:extLst>
          </p:cNvPr>
          <p:cNvSpPr>
            <a:spLocks noGrp="1"/>
          </p:cNvSpPr>
          <p:nvPr>
            <p:ph type="title"/>
          </p:nvPr>
        </p:nvSpPr>
        <p:spPr>
          <a:xfrm>
            <a:off x="1371599" y="294538"/>
            <a:ext cx="9895951" cy="1033669"/>
          </a:xfrm>
        </p:spPr>
        <p:txBody>
          <a:bodyPr>
            <a:normAutofit/>
          </a:bodyPr>
          <a:lstStyle/>
          <a:p>
            <a:r>
              <a:rPr lang="en-IN" sz="4000">
                <a:solidFill>
                  <a:srgbClr val="FFFFFF"/>
                </a:solidFill>
              </a:rPr>
              <a:t>Problem Statement</a:t>
            </a:r>
          </a:p>
        </p:txBody>
      </p:sp>
      <p:sp>
        <p:nvSpPr>
          <p:cNvPr id="3" name="Content Placeholder 2">
            <a:extLst>
              <a:ext uri="{FF2B5EF4-FFF2-40B4-BE49-F238E27FC236}">
                <a16:creationId xmlns:a16="http://schemas.microsoft.com/office/drawing/2014/main" id="{103AEEB1-4454-E6BF-FA9F-6F7DE0C9309A}"/>
              </a:ext>
            </a:extLst>
          </p:cNvPr>
          <p:cNvSpPr>
            <a:spLocks noGrp="1"/>
          </p:cNvSpPr>
          <p:nvPr>
            <p:ph idx="1"/>
          </p:nvPr>
        </p:nvSpPr>
        <p:spPr>
          <a:xfrm>
            <a:off x="370900" y="1794895"/>
            <a:ext cx="11569356" cy="3683358"/>
          </a:xfrm>
        </p:spPr>
        <p:txBody>
          <a:bodyPr anchor="ctr">
            <a:normAutofit/>
          </a:bodyPr>
          <a:lstStyle/>
          <a:p>
            <a:pPr marL="0" indent="0" algn="just">
              <a:buNone/>
            </a:pPr>
            <a:r>
              <a:rPr lang="en-IN" sz="2400" dirty="0"/>
              <a:t>Sector-based diversification does not always capture how stocks actually behave in the market. Stocks from different sectors can exhibit similar patterns in risk, volatility, momentum, and market sensitivity. Therefore, an AI-driven approach is needed to identify hidden behavioural relationships and evaluate their potential for better diversification</a:t>
            </a:r>
            <a:endParaRPr lang="en-IN" sz="2400" dirty="0">
              <a:ea typeface="Calibri"/>
              <a:cs typeface="Calibri"/>
            </a:endParaRPr>
          </a:p>
        </p:txBody>
      </p:sp>
    </p:spTree>
    <p:extLst>
      <p:ext uri="{BB962C8B-B14F-4D97-AF65-F5344CB8AC3E}">
        <p14:creationId xmlns:p14="http://schemas.microsoft.com/office/powerpoint/2010/main" val="1290116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35056E-6C61-78AC-ED8C-E26F489B9178}"/>
              </a:ext>
            </a:extLst>
          </p:cNvPr>
          <p:cNvSpPr>
            <a:spLocks noGrp="1"/>
          </p:cNvSpPr>
          <p:nvPr>
            <p:ph type="title"/>
          </p:nvPr>
        </p:nvSpPr>
        <p:spPr>
          <a:xfrm>
            <a:off x="586478" y="1683756"/>
            <a:ext cx="3115265" cy="2396359"/>
          </a:xfrm>
        </p:spPr>
        <p:txBody>
          <a:bodyPr anchor="b">
            <a:normAutofit/>
          </a:bodyPr>
          <a:lstStyle/>
          <a:p>
            <a:pPr algn="ctr"/>
            <a:r>
              <a:rPr lang="en-IN" sz="4000">
                <a:solidFill>
                  <a:srgbClr val="FFFFFF"/>
                </a:solidFill>
              </a:rPr>
              <a:t>Objectives</a:t>
            </a:r>
            <a:endParaRPr lang="en-US"/>
          </a:p>
        </p:txBody>
      </p:sp>
      <p:graphicFrame>
        <p:nvGraphicFramePr>
          <p:cNvPr id="5" name="Content Placeholder 2">
            <a:extLst>
              <a:ext uri="{FF2B5EF4-FFF2-40B4-BE49-F238E27FC236}">
                <a16:creationId xmlns:a16="http://schemas.microsoft.com/office/drawing/2014/main" id="{2F747B77-61E1-7B72-A399-5A53E899C3BC}"/>
              </a:ext>
            </a:extLst>
          </p:cNvPr>
          <p:cNvGraphicFramePr>
            <a:graphicFrameLocks noGrp="1"/>
          </p:cNvGraphicFramePr>
          <p:nvPr>
            <p:ph idx="1"/>
            <p:extLst>
              <p:ext uri="{D42A27DB-BD31-4B8C-83A1-F6EECF244321}">
                <p14:modId xmlns:p14="http://schemas.microsoft.com/office/powerpoint/2010/main" val="2702052230"/>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135145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D65DED-4682-2C3A-6DA4-D8CECDDCEE41}"/>
              </a:ext>
            </a:extLst>
          </p:cNvPr>
          <p:cNvSpPr>
            <a:spLocks noGrp="1"/>
          </p:cNvSpPr>
          <p:nvPr>
            <p:ph type="title"/>
          </p:nvPr>
        </p:nvSpPr>
        <p:spPr>
          <a:xfrm>
            <a:off x="466722" y="586855"/>
            <a:ext cx="3201366" cy="3387497"/>
          </a:xfrm>
        </p:spPr>
        <p:txBody>
          <a:bodyPr anchor="b">
            <a:normAutofit/>
          </a:bodyPr>
          <a:lstStyle/>
          <a:p>
            <a:pPr algn="ctr"/>
            <a:r>
              <a:rPr lang="en-IN" sz="4000">
                <a:solidFill>
                  <a:srgbClr val="FFFFFF"/>
                </a:solidFill>
              </a:rPr>
              <a:t>Dataset</a:t>
            </a:r>
            <a:endParaRPr lang="en-US"/>
          </a:p>
        </p:txBody>
      </p:sp>
      <p:sp>
        <p:nvSpPr>
          <p:cNvPr id="3" name="Content Placeholder 2">
            <a:extLst>
              <a:ext uri="{FF2B5EF4-FFF2-40B4-BE49-F238E27FC236}">
                <a16:creationId xmlns:a16="http://schemas.microsoft.com/office/drawing/2014/main" id="{86898C53-BD45-FDA8-23B5-D5999E6FAB39}"/>
              </a:ext>
            </a:extLst>
          </p:cNvPr>
          <p:cNvSpPr>
            <a:spLocks noGrp="1"/>
          </p:cNvSpPr>
          <p:nvPr>
            <p:ph idx="1"/>
          </p:nvPr>
        </p:nvSpPr>
        <p:spPr>
          <a:xfrm>
            <a:off x="4810259" y="649480"/>
            <a:ext cx="6555347" cy="5546047"/>
          </a:xfrm>
        </p:spPr>
        <p:txBody>
          <a:bodyPr anchor="ctr">
            <a:normAutofit/>
          </a:bodyPr>
          <a:lstStyle/>
          <a:p>
            <a:pPr lvl="0"/>
            <a:r>
              <a:rPr lang="en-IN" sz="2000"/>
              <a:t>75 selected NSE-listed companies are included in the dataset </a:t>
            </a:r>
          </a:p>
          <a:p>
            <a:pPr lvl="0"/>
            <a:endParaRPr lang="en-IN" sz="2000"/>
          </a:p>
          <a:p>
            <a:pPr lvl="0"/>
            <a:r>
              <a:rPr lang="en-IN" sz="2000"/>
              <a:t>Daily stock-market records cover the period from January 2022 to August 2026 </a:t>
            </a:r>
          </a:p>
          <a:p>
            <a:pPr lvl="0"/>
            <a:endParaRPr lang="en-IN" sz="2000"/>
          </a:p>
          <a:p>
            <a:pPr lvl="0"/>
            <a:r>
              <a:rPr lang="en-IN" sz="2000"/>
              <a:t>The dataset contains 85,500 records across all selected companies </a:t>
            </a:r>
          </a:p>
          <a:p>
            <a:pPr lvl="0"/>
            <a:endParaRPr lang="en-IN" sz="2000"/>
          </a:p>
          <a:p>
            <a:pPr lvl="0"/>
            <a:r>
              <a:rPr lang="en-IN" sz="2000"/>
              <a:t>Each record represents one stock on a specific trading day </a:t>
            </a:r>
          </a:p>
          <a:p>
            <a:pPr lvl="0"/>
            <a:endParaRPr lang="en-IN" sz="2000"/>
          </a:p>
          <a:p>
            <a:pPr lvl="0"/>
            <a:r>
              <a:rPr lang="en-IN" sz="2000"/>
              <a:t>Each record contains eight market-related attributes </a:t>
            </a:r>
          </a:p>
          <a:p>
            <a:pPr lvl="0"/>
            <a:endParaRPr lang="en-IN" sz="2000"/>
          </a:p>
          <a:p>
            <a:pPr lvl="0"/>
            <a:r>
              <a:rPr lang="en-IN" sz="2000"/>
              <a:t>The dataset captures historical price and trading behaviour of the selected stocks</a:t>
            </a:r>
          </a:p>
        </p:txBody>
      </p:sp>
    </p:spTree>
    <p:extLst>
      <p:ext uri="{BB962C8B-B14F-4D97-AF65-F5344CB8AC3E}">
        <p14:creationId xmlns:p14="http://schemas.microsoft.com/office/powerpoint/2010/main" val="30413234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20A811-A428-44D4-0503-5A0AC8574317}"/>
              </a:ext>
            </a:extLst>
          </p:cNvPr>
          <p:cNvSpPr>
            <a:spLocks noGrp="1"/>
          </p:cNvSpPr>
          <p:nvPr>
            <p:ph type="title"/>
          </p:nvPr>
        </p:nvSpPr>
        <p:spPr>
          <a:xfrm>
            <a:off x="466722" y="586855"/>
            <a:ext cx="3201366" cy="3387497"/>
          </a:xfrm>
        </p:spPr>
        <p:txBody>
          <a:bodyPr anchor="b">
            <a:normAutofit/>
          </a:bodyPr>
          <a:lstStyle/>
          <a:p>
            <a:pPr algn="ctr"/>
            <a:r>
              <a:rPr lang="en-IN" sz="4000">
                <a:solidFill>
                  <a:srgbClr val="FFFFFF"/>
                </a:solidFill>
              </a:rPr>
              <a:t>Stock Fingerprint Dataset</a:t>
            </a:r>
            <a:endParaRPr lang="en-US"/>
          </a:p>
        </p:txBody>
      </p:sp>
      <p:sp>
        <p:nvSpPr>
          <p:cNvPr id="3" name="Content Placeholder 2">
            <a:extLst>
              <a:ext uri="{FF2B5EF4-FFF2-40B4-BE49-F238E27FC236}">
                <a16:creationId xmlns:a16="http://schemas.microsoft.com/office/drawing/2014/main" id="{04AE3292-B3B2-6E76-79CE-E467ADE03743}"/>
              </a:ext>
            </a:extLst>
          </p:cNvPr>
          <p:cNvSpPr>
            <a:spLocks noGrp="1"/>
          </p:cNvSpPr>
          <p:nvPr>
            <p:ph idx="1"/>
          </p:nvPr>
        </p:nvSpPr>
        <p:spPr>
          <a:xfrm>
            <a:off x="4810259" y="649480"/>
            <a:ext cx="6555347" cy="5546047"/>
          </a:xfrm>
        </p:spPr>
        <p:txBody>
          <a:bodyPr anchor="ctr">
            <a:normAutofit/>
          </a:bodyPr>
          <a:lstStyle/>
          <a:p>
            <a:pPr lvl="0"/>
            <a:endParaRPr lang="en-IN" sz="2000" dirty="0"/>
          </a:p>
          <a:p>
            <a:pPr lvl="0"/>
            <a:r>
              <a:rPr lang="en-IN" sz="2000" dirty="0"/>
              <a:t>The raw daily stock data was processed to represent each company through a set of behavioural characteristics </a:t>
            </a:r>
          </a:p>
          <a:p>
            <a:pPr lvl="0"/>
            <a:endParaRPr lang="en-IN" sz="2000" dirty="0"/>
          </a:p>
          <a:p>
            <a:pPr lvl="0"/>
            <a:r>
              <a:rPr lang="en-IN" sz="2000" dirty="0"/>
              <a:t>This produced a Stock Fingerprint dataset containing 75 stocks and 14 behavioural features </a:t>
            </a:r>
          </a:p>
          <a:p>
            <a:pPr lvl="0"/>
            <a:endParaRPr lang="en-IN" sz="2000" dirty="0"/>
          </a:p>
          <a:p>
            <a:pPr lvl="0"/>
            <a:r>
              <a:rPr lang="en-IN" sz="2000" dirty="0"/>
              <a:t>The features describe aspects such as return, volatility, momentum, market sensitivity, trends, and trading behaviour </a:t>
            </a:r>
          </a:p>
          <a:p>
            <a:pPr lvl="0"/>
            <a:endParaRPr lang="en-IN" sz="2000" dirty="0"/>
          </a:p>
          <a:p>
            <a:pPr lvl="0"/>
            <a:r>
              <a:rPr lang="en-IN" sz="2000" dirty="0"/>
              <a:t>Each row now represents one stock and its overall historical behavioural profile</a:t>
            </a:r>
          </a:p>
          <a:p>
            <a:endParaRPr lang="en-IN" sz="2000" dirty="0"/>
          </a:p>
        </p:txBody>
      </p:sp>
    </p:spTree>
    <p:extLst>
      <p:ext uri="{BB962C8B-B14F-4D97-AF65-F5344CB8AC3E}">
        <p14:creationId xmlns:p14="http://schemas.microsoft.com/office/powerpoint/2010/main" val="32753365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54DADD-D361-EDBE-ADB0-5952C886EBE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DDD0C6-2CE1-A499-3BF7-5C869B5CD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C9FDCC1-1832-B1F5-E780-CACDF5B9D0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0BB619B-E494-19D6-BC8A-1E3CA8AC51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8BA66DA-F7B2-1C04-6E45-1A5640B43C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D9B5B7B-BC24-E634-632E-E780E7DF2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BEFBD7-D15C-351B-2586-D24961F64A6E}"/>
              </a:ext>
            </a:extLst>
          </p:cNvPr>
          <p:cNvSpPr>
            <a:spLocks noGrp="1"/>
          </p:cNvSpPr>
          <p:nvPr>
            <p:ph type="title"/>
          </p:nvPr>
        </p:nvSpPr>
        <p:spPr>
          <a:xfrm>
            <a:off x="389262" y="377164"/>
            <a:ext cx="9895951" cy="1033669"/>
          </a:xfrm>
        </p:spPr>
        <p:txBody>
          <a:bodyPr>
            <a:normAutofit/>
          </a:bodyPr>
          <a:lstStyle/>
          <a:p>
            <a:r>
              <a:rPr lang="en-IN" sz="4000">
                <a:solidFill>
                  <a:srgbClr val="FFFFFF"/>
                </a:solidFill>
                <a:ea typeface="Calibri Light"/>
                <a:cs typeface="Calibri Light"/>
              </a:rPr>
              <a:t>Methodology</a:t>
            </a:r>
            <a:endParaRPr lang="en-IN" sz="4000" dirty="0">
              <a:solidFill>
                <a:srgbClr val="FFFFFF"/>
              </a:solidFill>
              <a:ea typeface="Calibri Light"/>
              <a:cs typeface="Calibri Light"/>
            </a:endParaRPr>
          </a:p>
        </p:txBody>
      </p:sp>
      <p:pic>
        <p:nvPicPr>
          <p:cNvPr id="5" name="Content Placeholder 4">
            <a:extLst>
              <a:ext uri="{FF2B5EF4-FFF2-40B4-BE49-F238E27FC236}">
                <a16:creationId xmlns:a16="http://schemas.microsoft.com/office/drawing/2014/main" id="{9E187712-F27D-70BD-95D1-9658F0C89E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7311" y="1591374"/>
            <a:ext cx="10515600" cy="3120817"/>
          </a:xfrm>
          <a:prstGeom prst="rect">
            <a:avLst/>
          </a:prstGeom>
        </p:spPr>
      </p:pic>
      <p:sp>
        <p:nvSpPr>
          <p:cNvPr id="7" name="TextBox 6">
            <a:extLst>
              <a:ext uri="{FF2B5EF4-FFF2-40B4-BE49-F238E27FC236}">
                <a16:creationId xmlns:a16="http://schemas.microsoft.com/office/drawing/2014/main" id="{D9461904-4999-C523-02F6-574F2EBA5A9F}"/>
              </a:ext>
            </a:extLst>
          </p:cNvPr>
          <p:cNvSpPr txBox="1"/>
          <p:nvPr/>
        </p:nvSpPr>
        <p:spPr>
          <a:xfrm>
            <a:off x="572878" y="4779194"/>
            <a:ext cx="10863072" cy="2308324"/>
          </a:xfrm>
          <a:prstGeom prst="rect">
            <a:avLst/>
          </a:prstGeom>
          <a:noFill/>
        </p:spPr>
        <p:txBody>
          <a:bodyPr wrap="square" rtlCol="0">
            <a:spAutoFit/>
          </a:bodyPr>
          <a:lstStyle/>
          <a:p>
            <a:pPr marL="285750" lvl="0" indent="-285750">
              <a:buFont typeface="Arial" panose="020B0604020202020204" pitchFamily="34" charset="0"/>
              <a:buChar char="•"/>
            </a:pPr>
            <a:r>
              <a:rPr lang="en-IN" dirty="0"/>
              <a:t>Transform daily stock data into behavioural characteristics for each company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dirty="0"/>
              <a:t>Represent every stock as a numerical behavioural fingerprint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dirty="0"/>
              <a:t>Use unsupervised learning to identify groups of similarly behaving stocks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dirty="0"/>
              <a:t>Evaluate the financial characteristics and diversification potential of the identified groups</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6681169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655E1F3-CAB5-A39A-B036-599FC1B454D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66E54A4-2BF1-782D-DA55-B7B3CC7C3E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86535C8-9CC9-3B09-574B-410D16F70D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913AA54-F9A5-6208-E21C-9A262B9F30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4E13B41-4FA3-39AB-1302-4100B74320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5B76DB0-54BA-27C7-0CF4-0A9A7CF681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AB2FD3-0D15-6747-46F9-20A987EBE2BA}"/>
              </a:ext>
            </a:extLst>
          </p:cNvPr>
          <p:cNvSpPr>
            <a:spLocks noGrp="1"/>
          </p:cNvSpPr>
          <p:nvPr>
            <p:ph type="title"/>
          </p:nvPr>
        </p:nvSpPr>
        <p:spPr>
          <a:xfrm>
            <a:off x="389262" y="377164"/>
            <a:ext cx="9895951" cy="1033669"/>
          </a:xfrm>
        </p:spPr>
        <p:txBody>
          <a:bodyPr>
            <a:normAutofit/>
          </a:bodyPr>
          <a:lstStyle/>
          <a:p>
            <a:r>
              <a:rPr lang="en-IN">
                <a:solidFill>
                  <a:schemeClr val="bg1"/>
                </a:solidFill>
                <a:ea typeface="Calibri Light"/>
                <a:cs typeface="Calibri Light"/>
              </a:rPr>
              <a:t>Tools &amp; Technologies</a:t>
            </a:r>
            <a:endParaRPr lang="en-US">
              <a:solidFill>
                <a:schemeClr val="bg1"/>
              </a:solidFill>
              <a:ea typeface="Calibri Light"/>
              <a:cs typeface="Calibri Light"/>
            </a:endParaRPr>
          </a:p>
        </p:txBody>
      </p:sp>
      <p:sp>
        <p:nvSpPr>
          <p:cNvPr id="4" name="Content Placeholder 2">
            <a:extLst>
              <a:ext uri="{FF2B5EF4-FFF2-40B4-BE49-F238E27FC236}">
                <a16:creationId xmlns:a16="http://schemas.microsoft.com/office/drawing/2014/main" id="{8B46B88B-0965-C457-86E0-76756877DFF4}"/>
              </a:ext>
            </a:extLst>
          </p:cNvPr>
          <p:cNvSpPr>
            <a:spLocks noGrp="1"/>
          </p:cNvSpPr>
          <p:nvPr>
            <p:ph idx="1"/>
          </p:nvPr>
        </p:nvSpPr>
        <p:spPr>
          <a:xfrm>
            <a:off x="1441741" y="2318246"/>
            <a:ext cx="3806952" cy="3916808"/>
          </a:xfrm>
        </p:spPr>
        <p:txBody>
          <a:bodyPr>
            <a:noAutofit/>
          </a:bodyPr>
          <a:lstStyle/>
          <a:p>
            <a:pPr marL="0" indent="0">
              <a:buNone/>
            </a:pPr>
            <a:r>
              <a:rPr lang="en-IN" sz="1800" b="1" dirty="0"/>
              <a:t>Programming &amp; Data Processing</a:t>
            </a:r>
          </a:p>
          <a:p>
            <a:r>
              <a:rPr lang="en-IN" sz="1800" dirty="0"/>
              <a:t>Python </a:t>
            </a:r>
          </a:p>
          <a:p>
            <a:r>
              <a:rPr lang="en-IN" sz="1800" dirty="0"/>
              <a:t>Pandas &amp; NumPy </a:t>
            </a:r>
          </a:p>
          <a:p>
            <a:r>
              <a:rPr lang="en-IN" sz="1800" dirty="0"/>
              <a:t>Scikit-learn </a:t>
            </a:r>
          </a:p>
          <a:p>
            <a:pPr marL="0" indent="0">
              <a:buNone/>
            </a:pPr>
            <a:r>
              <a:rPr lang="en-IN" sz="1800" b="1" dirty="0"/>
              <a:t>Data &amp; Analysis</a:t>
            </a:r>
          </a:p>
          <a:p>
            <a:pPr lvl="0"/>
            <a:r>
              <a:rPr lang="en-IN" sz="1800" dirty="0"/>
              <a:t>Historical Stock Market Data </a:t>
            </a:r>
          </a:p>
          <a:p>
            <a:pPr lvl="0"/>
            <a:r>
              <a:rPr lang="en-IN" sz="1800" dirty="0"/>
              <a:t>Statistical Feature Engineering </a:t>
            </a:r>
          </a:p>
          <a:p>
            <a:pPr lvl="0"/>
            <a:r>
              <a:rPr lang="en-IN" sz="1800" dirty="0"/>
              <a:t>PCA &amp; K-Means Clustering </a:t>
            </a:r>
          </a:p>
          <a:p>
            <a:endParaRPr lang="en-IN" sz="1800" dirty="0"/>
          </a:p>
        </p:txBody>
      </p:sp>
      <p:sp>
        <p:nvSpPr>
          <p:cNvPr id="9" name="Content Placeholder 2">
            <a:extLst>
              <a:ext uri="{FF2B5EF4-FFF2-40B4-BE49-F238E27FC236}">
                <a16:creationId xmlns:a16="http://schemas.microsoft.com/office/drawing/2014/main" id="{45C47D32-0A41-423D-629C-26E9CEB64A58}"/>
              </a:ext>
            </a:extLst>
          </p:cNvPr>
          <p:cNvSpPr txBox="1">
            <a:spLocks/>
          </p:cNvSpPr>
          <p:nvPr/>
        </p:nvSpPr>
        <p:spPr>
          <a:xfrm>
            <a:off x="7165921" y="2321384"/>
            <a:ext cx="3806952" cy="39168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1800" b="1" dirty="0"/>
              <a:t>Visualization &amp; Application</a:t>
            </a:r>
            <a:endParaRPr lang="en-IN" sz="1800" dirty="0">
              <a:effectLst/>
            </a:endParaRPr>
          </a:p>
          <a:p>
            <a:r>
              <a:rPr lang="en-IN" sz="1800" dirty="0"/>
              <a:t>Matplotlib / Seaborn </a:t>
            </a:r>
            <a:endParaRPr lang="en-IN" sz="1800" dirty="0">
              <a:effectLst/>
            </a:endParaRPr>
          </a:p>
          <a:p>
            <a:r>
              <a:rPr lang="en-IN" sz="1800" dirty="0" err="1"/>
              <a:t>Plotly</a:t>
            </a:r>
            <a:r>
              <a:rPr lang="en-IN" sz="1800" dirty="0"/>
              <a:t> </a:t>
            </a:r>
            <a:endParaRPr lang="en-IN" sz="1800" dirty="0">
              <a:effectLst/>
            </a:endParaRPr>
          </a:p>
          <a:p>
            <a:r>
              <a:rPr lang="en-IN" sz="1800" dirty="0" err="1"/>
              <a:t>Streamlit</a:t>
            </a:r>
            <a:r>
              <a:rPr lang="en-IN" sz="1800" dirty="0"/>
              <a:t> </a:t>
            </a:r>
            <a:endParaRPr lang="en-IN" sz="1800" dirty="0">
              <a:effectLst/>
            </a:endParaRPr>
          </a:p>
          <a:p>
            <a:pPr marL="0" indent="0">
              <a:buNone/>
            </a:pPr>
            <a:r>
              <a:rPr lang="en-IN" sz="1800" b="1" dirty="0"/>
              <a:t>Development</a:t>
            </a:r>
            <a:endParaRPr lang="en-IN" sz="1800" dirty="0">
              <a:effectLst/>
            </a:endParaRPr>
          </a:p>
          <a:p>
            <a:r>
              <a:rPr lang="en-IN" sz="1800" dirty="0"/>
              <a:t>Jupyter Notebook </a:t>
            </a:r>
            <a:endParaRPr lang="en-IN" sz="1800" dirty="0">
              <a:effectLst/>
            </a:endParaRPr>
          </a:p>
          <a:p>
            <a:r>
              <a:rPr lang="en-IN" sz="1800" dirty="0"/>
              <a:t>VS Code </a:t>
            </a:r>
            <a:endParaRPr lang="en-IN" sz="1800" dirty="0">
              <a:effectLst/>
            </a:endParaRPr>
          </a:p>
          <a:p>
            <a:r>
              <a:rPr lang="en-IN" sz="1800" dirty="0"/>
              <a:t>Git &amp; GitHub</a:t>
            </a:r>
            <a:endParaRPr lang="en-IN" sz="1800" dirty="0">
              <a:effectLst/>
            </a:endParaRPr>
          </a:p>
        </p:txBody>
      </p:sp>
    </p:spTree>
    <p:extLst>
      <p:ext uri="{BB962C8B-B14F-4D97-AF65-F5344CB8AC3E}">
        <p14:creationId xmlns:p14="http://schemas.microsoft.com/office/powerpoint/2010/main" val="8228356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85"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12B3290A-D3BF-4B87-B55B-FD9A98B497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9030" cy="1576446"/>
            <a:chOff x="0" y="0"/>
            <a:chExt cx="12192002" cy="1576446"/>
          </a:xfrm>
        </p:grpSpPr>
        <p:sp>
          <p:nvSpPr>
            <p:cNvPr id="23" name="Rectangle 22">
              <a:extLst>
                <a:ext uri="{FF2B5EF4-FFF2-40B4-BE49-F238E27FC236}">
                  <a16:creationId xmlns:a16="http://schemas.microsoft.com/office/drawing/2014/main" id="{033A715A-0686-440A-8F40-441B42A66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761657F-19F2-425B-B7E9-0118CD13C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45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E27B6634-79D3-4EDD-A77A-1065D6F3A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04A9B32-A796-6291-622B-6D5638FE5523}"/>
              </a:ext>
            </a:extLst>
          </p:cNvPr>
          <p:cNvSpPr>
            <a:spLocks noGrp="1"/>
          </p:cNvSpPr>
          <p:nvPr>
            <p:ph type="title"/>
          </p:nvPr>
        </p:nvSpPr>
        <p:spPr>
          <a:xfrm>
            <a:off x="1371598" y="319314"/>
            <a:ext cx="9477377" cy="1030515"/>
          </a:xfrm>
        </p:spPr>
        <p:txBody>
          <a:bodyPr anchor="ctr">
            <a:normAutofit/>
          </a:bodyPr>
          <a:lstStyle/>
          <a:p>
            <a:r>
              <a:rPr lang="en-IN" sz="4000">
                <a:solidFill>
                  <a:srgbClr val="FFFFFF"/>
                </a:solidFill>
              </a:rPr>
              <a:t>Behavioural Features &amp; Financial Measures</a:t>
            </a:r>
          </a:p>
        </p:txBody>
      </p:sp>
      <p:pic>
        <p:nvPicPr>
          <p:cNvPr id="11" name="Content Placeholder 10">
            <a:extLst>
              <a:ext uri="{FF2B5EF4-FFF2-40B4-BE49-F238E27FC236}">
                <a16:creationId xmlns:a16="http://schemas.microsoft.com/office/drawing/2014/main" id="{F61577C9-4351-1FE8-92A6-506932B1A0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598" y="2206551"/>
            <a:ext cx="5621034" cy="2837933"/>
          </a:xfrm>
          <a:prstGeom prst="rect">
            <a:avLst/>
          </a:prstGeom>
        </p:spPr>
      </p:pic>
      <p:pic>
        <p:nvPicPr>
          <p:cNvPr id="13" name="Picture 12">
            <a:extLst>
              <a:ext uri="{FF2B5EF4-FFF2-40B4-BE49-F238E27FC236}">
                <a16:creationId xmlns:a16="http://schemas.microsoft.com/office/drawing/2014/main" id="{FE816618-3164-B53D-C84A-AEAC02D5FD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6804" y="5040095"/>
            <a:ext cx="5656137" cy="1119725"/>
          </a:xfrm>
          <a:prstGeom prst="rect">
            <a:avLst/>
          </a:prstGeom>
        </p:spPr>
      </p:pic>
    </p:spTree>
    <p:extLst>
      <p:ext uri="{BB962C8B-B14F-4D97-AF65-F5344CB8AC3E}">
        <p14:creationId xmlns:p14="http://schemas.microsoft.com/office/powerpoint/2010/main" val="25151301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0053C7-057C-CBE6-74CF-E079CE0D17FB}"/>
              </a:ext>
            </a:extLst>
          </p:cNvPr>
          <p:cNvSpPr>
            <a:spLocks noGrp="1"/>
          </p:cNvSpPr>
          <p:nvPr>
            <p:ph type="title"/>
          </p:nvPr>
        </p:nvSpPr>
        <p:spPr>
          <a:xfrm>
            <a:off x="466722" y="586855"/>
            <a:ext cx="3201366" cy="3387497"/>
          </a:xfrm>
        </p:spPr>
        <p:txBody>
          <a:bodyPr anchor="b">
            <a:normAutofit/>
          </a:bodyPr>
          <a:lstStyle/>
          <a:p>
            <a:pPr algn="ctr"/>
            <a:r>
              <a:rPr lang="en-IN" sz="4000">
                <a:solidFill>
                  <a:srgbClr val="FFFFFF"/>
                </a:solidFill>
              </a:rPr>
              <a:t>Expected Outcomes</a:t>
            </a:r>
            <a:endParaRPr lang="en-US"/>
          </a:p>
        </p:txBody>
      </p:sp>
      <p:sp>
        <p:nvSpPr>
          <p:cNvPr id="3" name="Content Placeholder 2">
            <a:extLst>
              <a:ext uri="{FF2B5EF4-FFF2-40B4-BE49-F238E27FC236}">
                <a16:creationId xmlns:a16="http://schemas.microsoft.com/office/drawing/2014/main" id="{79B7BD62-0ABA-EFD2-11F6-09D2D44CA266}"/>
              </a:ext>
            </a:extLst>
          </p:cNvPr>
          <p:cNvSpPr>
            <a:spLocks noGrp="1"/>
          </p:cNvSpPr>
          <p:nvPr>
            <p:ph idx="1"/>
          </p:nvPr>
        </p:nvSpPr>
        <p:spPr>
          <a:xfrm>
            <a:off x="4810259" y="649480"/>
            <a:ext cx="6555347" cy="5546047"/>
          </a:xfrm>
        </p:spPr>
        <p:txBody>
          <a:bodyPr anchor="ctr">
            <a:normAutofit/>
          </a:bodyPr>
          <a:lstStyle/>
          <a:p>
            <a:pPr marL="0" indent="0">
              <a:buNone/>
            </a:pPr>
            <a:r>
              <a:rPr lang="en-IN" sz="1600" b="1"/>
              <a:t>Expected Deliverables</a:t>
            </a:r>
          </a:p>
          <a:p>
            <a:pPr lvl="0"/>
            <a:r>
              <a:rPr lang="en-IN" sz="1600"/>
              <a:t>AI-based Stock Behavioural Clustering System with an interactive Streamlit dashboard</a:t>
            </a:r>
          </a:p>
          <a:p>
            <a:pPr lvl="0"/>
            <a:r>
              <a:rPr lang="en-IN" sz="1600"/>
              <a:t>Processed stock fingerprint dataset containing behavioural features for 75 NSE-listed companies</a:t>
            </a:r>
          </a:p>
          <a:p>
            <a:pPr lvl="0"/>
            <a:r>
              <a:rPr lang="en-IN" sz="1600"/>
              <a:t>Behavioural clustering results with PCA-based visualizations and cluster analysis</a:t>
            </a:r>
          </a:p>
          <a:p>
            <a:pPr lvl="0"/>
            <a:r>
              <a:rPr lang="en-IN" sz="1600"/>
              <a:t>Stock similarity analysis for identifying historically similar behavioural patterns</a:t>
            </a:r>
          </a:p>
          <a:p>
            <a:pPr lvl="0"/>
            <a:r>
              <a:rPr lang="en-IN" sz="1600"/>
              <a:t>Risk, return and correlation analysis of the identified behavioural clusters</a:t>
            </a:r>
          </a:p>
          <a:p>
            <a:pPr marL="0" indent="0">
              <a:buNone/>
            </a:pPr>
            <a:r>
              <a:rPr lang="en-IN" sz="1600" b="1"/>
              <a:t>Target Results</a:t>
            </a:r>
          </a:p>
          <a:p>
            <a:pPr lvl="0"/>
            <a:r>
              <a:rPr lang="en-IN" sz="1600"/>
              <a:t>Identify distinct behavioural patterns among the selected stocks</a:t>
            </a:r>
          </a:p>
          <a:p>
            <a:pPr lvl="0"/>
            <a:r>
              <a:rPr lang="en-IN" sz="1600"/>
              <a:t>Discover similar stocks across different sectors based on market behaviour</a:t>
            </a:r>
          </a:p>
          <a:p>
            <a:pPr lvl="0"/>
            <a:r>
              <a:rPr lang="en-IN" sz="1600"/>
              <a:t>Compare risk and return characteristics across behavioural clusters</a:t>
            </a:r>
          </a:p>
          <a:p>
            <a:pPr lvl="0"/>
            <a:r>
              <a:rPr lang="en-IN" sz="1600"/>
              <a:t>Evaluate the diversification characteristics of same-cluster and cross-cluster portfolios</a:t>
            </a:r>
          </a:p>
          <a:p>
            <a:pPr lvl="0"/>
            <a:r>
              <a:rPr lang="en-IN" sz="1600"/>
              <a:t>Determine whether behavioural clustering provides useful diversification insights beyond sector classification</a:t>
            </a:r>
          </a:p>
          <a:p>
            <a:endParaRPr lang="en-IN" sz="1600"/>
          </a:p>
        </p:txBody>
      </p:sp>
    </p:spTree>
    <p:extLst>
      <p:ext uri="{BB962C8B-B14F-4D97-AF65-F5344CB8AC3E}">
        <p14:creationId xmlns:p14="http://schemas.microsoft.com/office/powerpoint/2010/main" val="299487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150860-016F-E8A6-BA25-919C879C0B00}"/>
              </a:ext>
            </a:extLst>
          </p:cNvPr>
          <p:cNvSpPr>
            <a:spLocks noGrp="1"/>
          </p:cNvSpPr>
          <p:nvPr>
            <p:ph type="title"/>
          </p:nvPr>
        </p:nvSpPr>
        <p:spPr>
          <a:xfrm>
            <a:off x="6590662" y="4267832"/>
            <a:ext cx="4805996" cy="1297115"/>
          </a:xfrm>
        </p:spPr>
        <p:txBody>
          <a:bodyPr vert="horz" lIns="91440" tIns="45720" rIns="91440" bIns="45720" rtlCol="0">
            <a:normAutofit/>
          </a:bodyPr>
          <a:lstStyle/>
          <a:p>
            <a:r>
              <a:rPr lang="en-US" sz="4000" kern="1200">
                <a:solidFill>
                  <a:schemeClr val="tx2"/>
                </a:solidFill>
                <a:latin typeface="+mj-lt"/>
                <a:ea typeface="+mj-ea"/>
                <a:cs typeface="+mj-cs"/>
              </a:rPr>
              <a:t>Thank You</a:t>
            </a:r>
          </a:p>
        </p:txBody>
      </p:sp>
      <p:pic>
        <p:nvPicPr>
          <p:cNvPr id="7" name="Graphic 6" descr="Smiling Face with No Fill">
            <a:extLst>
              <a:ext uri="{FF2B5EF4-FFF2-40B4-BE49-F238E27FC236}">
                <a16:creationId xmlns:a16="http://schemas.microsoft.com/office/drawing/2014/main" id="{227F3EFD-7308-D236-96A0-372DD64A6E3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4" name="Group 13">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5" name="Freeform: Shape 14">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7560863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148</TotalTime>
  <Words>566</Words>
  <Application>Microsoft Office PowerPoint</Application>
  <PresentationFormat>Widescreen</PresentationFormat>
  <Paragraphs>96</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AI-Driven Stock Behavioural Clustering for Risk and Diversification Analysis</vt:lpstr>
      <vt:lpstr>Table of contents</vt:lpstr>
      <vt:lpstr>Introduction</vt:lpstr>
      <vt:lpstr>Problem Statement</vt:lpstr>
      <vt:lpstr>Objectives</vt:lpstr>
      <vt:lpstr>Dataset</vt:lpstr>
      <vt:lpstr>Stock Fingerprint Dataset</vt:lpstr>
      <vt:lpstr>Methodology</vt:lpstr>
      <vt:lpstr>Tools &amp; Technologies</vt:lpstr>
      <vt:lpstr>Behavioural Features &amp; Financial Measures</vt:lpstr>
      <vt:lpstr>Expected Outcomes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Peddineni Rohith</dc:creator>
  <cp:lastModifiedBy>Peddineni Rohith</cp:lastModifiedBy>
  <cp:revision>78</cp:revision>
  <dcterms:created xsi:type="dcterms:W3CDTF">2026-08-17T13:23:13Z</dcterms:created>
  <dcterms:modified xsi:type="dcterms:W3CDTF">2026-08-17T16:04:26Z</dcterms:modified>
</cp:coreProperties>
</file>